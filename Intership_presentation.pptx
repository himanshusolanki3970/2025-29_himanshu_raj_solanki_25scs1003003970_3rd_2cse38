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C56"/>
        </a:solidFill>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0C1F3D"/>
          </a:solidFill>
          <a:ln/>
        </p:spPr>
      </p:sp>
      <p:sp>
        <p:nvSpPr>
          <p:cNvPr id="3" name="Shape 1"/>
          <p:cNvSpPr/>
          <p:nvPr/>
        </p:nvSpPr>
        <p:spPr>
          <a:xfrm>
            <a:off x="-2286000" y="4572000"/>
            <a:ext cx="5029200" cy="5029200"/>
          </a:xfrm>
          <a:prstGeom prst="ellipse">
            <a:avLst/>
          </a:prstGeom>
          <a:solidFill>
            <a:srgbClr val="2C6E8E">
              <a:alpha val="22000"/>
            </a:srgbClr>
          </a:solidFill>
          <a:ln/>
        </p:spPr>
      </p:sp>
      <p:sp>
        <p:nvSpPr>
          <p:cNvPr id="4" name="Shape 2"/>
          <p:cNvSpPr/>
          <p:nvPr/>
        </p:nvSpPr>
        <p:spPr>
          <a:xfrm>
            <a:off x="822960" y="502920"/>
            <a:ext cx="4114800" cy="1234440"/>
          </a:xfrm>
          <a:prstGeom prst="roundRect">
            <a:avLst>
              <a:gd name="adj" fmla="val 8889"/>
            </a:avLst>
          </a:prstGeom>
          <a:solidFill>
            <a:srgbClr val="FFFFFF"/>
          </a:solidFill>
          <a:ln/>
          <a:effectLst>
            <a:outerShdw sx="100000" sy="100000" kx="0" ky="0" algn="bl" rotWithShape="0" blurRad="127000" dist="50800" dir="5400000">
              <a:srgbClr val="000000">
                <a:alpha val="25000"/>
              </a:srgbClr>
            </a:outerShdw>
          </a:effectLst>
        </p:spPr>
      </p:sp>
      <p:pic>
        <p:nvPicPr>
          <p:cNvPr id="5" name="Image 0" descr="/mnt/user-data/uploads/Screenshot_2026-08-30_231308.png">    </p:cNvPr>
          <p:cNvPicPr>
            <a:picLocks noChangeAspect="1"/>
          </p:cNvPicPr>
          <p:nvPr/>
        </p:nvPicPr>
        <p:blipFill>
          <a:blip r:embed="rId1"/>
          <a:stretch>
            <a:fillRect/>
          </a:stretch>
        </p:blipFill>
        <p:spPr>
          <a:xfrm>
            <a:off x="1051560" y="713232"/>
            <a:ext cx="3657600" cy="1161288"/>
          </a:xfrm>
          <a:prstGeom prst="rect">
            <a:avLst/>
          </a:prstGeom>
        </p:spPr>
      </p:pic>
      <p:sp>
        <p:nvSpPr>
          <p:cNvPr id="6" name="Text 3"/>
          <p:cNvSpPr txBox="1"/>
          <p:nvPr/>
        </p:nvSpPr>
        <p:spPr>
          <a:xfrm>
            <a:off x="822960" y="2331720"/>
            <a:ext cx="1051560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NETWORKING BASICS</a:t>
            </a:r>
            <a:endParaRPr lang="en-US" sz="4400" dirty="0"/>
          </a:p>
        </p:txBody>
      </p:sp>
      <p:sp>
        <p:nvSpPr>
          <p:cNvPr id="7" name="Text 4"/>
          <p:cNvSpPr txBox="1"/>
          <p:nvPr/>
        </p:nvSpPr>
        <p:spPr>
          <a:xfrm>
            <a:off x="822960" y="3246120"/>
            <a:ext cx="9144000" cy="457200"/>
          </a:xfrm>
          <a:prstGeom prst="rect">
            <a:avLst/>
          </a:prstGeom>
          <a:noFill/>
          <a:ln/>
        </p:spPr>
        <p:txBody>
          <a:bodyPr wrap="square" lIns="0" tIns="0" rIns="0" bIns="0" rtlCol="0" anchor="ctr"/>
          <a:lstStyle/>
          <a:p>
            <a:pPr algn="l" indent="0" marL="0">
              <a:buNone/>
            </a:pPr>
            <a:r>
              <a:rPr lang="en-US" sz="1800" i="1" dirty="0">
                <a:solidFill>
                  <a:srgbClr val="D7E4EE"/>
                </a:solidFill>
                <a:latin typeface="Calibri" pitchFamily="34" charset="0"/>
                <a:ea typeface="Calibri" pitchFamily="34" charset="-122"/>
                <a:cs typeface="Calibri" pitchFamily="34" charset="-120"/>
              </a:rPr>
              <a:t>Internship / Course Completion Report</a:t>
            </a:r>
            <a:endParaRPr lang="en-US" sz="1800" dirty="0"/>
          </a:p>
        </p:txBody>
      </p:sp>
      <p:sp>
        <p:nvSpPr>
          <p:cNvPr id="8" name="Shape 5"/>
          <p:cNvSpPr/>
          <p:nvPr/>
        </p:nvSpPr>
        <p:spPr>
          <a:xfrm>
            <a:off x="822960" y="3840480"/>
            <a:ext cx="2743200" cy="0"/>
          </a:xfrm>
          <a:prstGeom prst="line">
            <a:avLst/>
          </a:prstGeom>
          <a:noFill/>
          <a:ln w="25400">
            <a:solidFill>
              <a:srgbClr val="2C6E8E"/>
            </a:solidFill>
            <a:prstDash val="solid"/>
          </a:ln>
        </p:spPr>
      </p:sp>
      <p:sp>
        <p:nvSpPr>
          <p:cNvPr id="9" name="Shape 6"/>
          <p:cNvSpPr/>
          <p:nvPr/>
        </p:nvSpPr>
        <p:spPr>
          <a:xfrm>
            <a:off x="822960" y="4251960"/>
            <a:ext cx="10515600" cy="1965960"/>
          </a:xfrm>
          <a:prstGeom prst="roundRect">
            <a:avLst>
              <a:gd name="adj" fmla="val 4651"/>
            </a:avLst>
          </a:prstGeom>
          <a:solidFill>
            <a:srgbClr val="FFFFFF">
              <a:alpha val="96000"/>
            </a:srgbClr>
          </a:solidFill>
          <a:ln/>
          <a:effectLst>
            <a:outerShdw sx="100000" sy="100000" kx="0" ky="0" algn="bl" rotWithShape="0" blurRad="152400" dist="50800" dir="5400000">
              <a:srgbClr val="000000">
                <a:alpha val="20000"/>
              </a:srgbClr>
            </a:outerShdw>
          </a:effectLst>
        </p:spPr>
      </p:sp>
      <p:sp>
        <p:nvSpPr>
          <p:cNvPr id="10" name="Text 7"/>
          <p:cNvSpPr txBox="1"/>
          <p:nvPr/>
        </p:nvSpPr>
        <p:spPr>
          <a:xfrm>
            <a:off x="1143000" y="4526280"/>
            <a:ext cx="4114800" cy="274320"/>
          </a:xfrm>
          <a:prstGeom prst="rect">
            <a:avLst/>
          </a:prstGeom>
          <a:noFill/>
          <a:ln/>
        </p:spPr>
        <p:txBody>
          <a:bodyPr wrap="square" lIns="0" tIns="0" rIns="0" bIns="0" rtlCol="0" anchor="ctr"/>
          <a:lstStyle/>
          <a:p>
            <a:pPr indent="0" marL="0">
              <a:buNone/>
            </a:pPr>
            <a:r>
              <a:rPr lang="en-US" sz="1100" b="1" spc="100" kern="0" dirty="0">
                <a:solidFill>
                  <a:srgbClr val="2C6E8E"/>
                </a:solidFill>
                <a:latin typeface="Calibri" pitchFamily="34" charset="0"/>
                <a:ea typeface="Calibri" pitchFamily="34" charset="-122"/>
                <a:cs typeface="Calibri" pitchFamily="34" charset="-120"/>
              </a:rPr>
              <a:t>STUDENT NAME</a:t>
            </a:r>
            <a:endParaRPr lang="en-US" sz="1100" dirty="0"/>
          </a:p>
        </p:txBody>
      </p:sp>
      <p:sp>
        <p:nvSpPr>
          <p:cNvPr id="11" name="Text 8"/>
          <p:cNvSpPr txBox="1"/>
          <p:nvPr/>
        </p:nvSpPr>
        <p:spPr>
          <a:xfrm>
            <a:off x="1143000" y="4800600"/>
            <a:ext cx="4572000" cy="41148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HIMANSHU RAJ SOLANKI</a:t>
            </a:r>
            <a:endParaRPr lang="en-US" sz="1600" dirty="0"/>
          </a:p>
        </p:txBody>
      </p:sp>
      <p:sp>
        <p:nvSpPr>
          <p:cNvPr id="12" name="Text 9"/>
          <p:cNvSpPr txBox="1"/>
          <p:nvPr/>
        </p:nvSpPr>
        <p:spPr>
          <a:xfrm>
            <a:off x="6172200" y="4526280"/>
            <a:ext cx="4114800" cy="274320"/>
          </a:xfrm>
          <a:prstGeom prst="rect">
            <a:avLst/>
          </a:prstGeom>
          <a:noFill/>
          <a:ln/>
        </p:spPr>
        <p:txBody>
          <a:bodyPr wrap="square" lIns="0" tIns="0" rIns="0" bIns="0" rtlCol="0" anchor="ctr"/>
          <a:lstStyle/>
          <a:p>
            <a:pPr indent="0" marL="0">
              <a:buNone/>
            </a:pPr>
            <a:r>
              <a:rPr lang="en-US" sz="1100" b="1" spc="100" kern="0" dirty="0">
                <a:solidFill>
                  <a:srgbClr val="2C6E8E"/>
                </a:solidFill>
                <a:latin typeface="Calibri" pitchFamily="34" charset="0"/>
                <a:ea typeface="Calibri" pitchFamily="34" charset="-122"/>
                <a:cs typeface="Calibri" pitchFamily="34" charset="-120"/>
              </a:rPr>
              <a:t>ENROLLMENT NUMBER</a:t>
            </a:r>
            <a:endParaRPr lang="en-US" sz="1100" dirty="0"/>
          </a:p>
        </p:txBody>
      </p:sp>
      <p:sp>
        <p:nvSpPr>
          <p:cNvPr id="13" name="Text 10"/>
          <p:cNvSpPr txBox="1"/>
          <p:nvPr/>
        </p:nvSpPr>
        <p:spPr>
          <a:xfrm>
            <a:off x="6172200" y="4800600"/>
            <a:ext cx="4846320" cy="41148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25SCS1003003970</a:t>
            </a:r>
            <a:endParaRPr lang="en-US" sz="1600" dirty="0"/>
          </a:p>
        </p:txBody>
      </p:sp>
      <p:sp>
        <p:nvSpPr>
          <p:cNvPr id="14" name="Text 11"/>
          <p:cNvSpPr txBox="1"/>
          <p:nvPr/>
        </p:nvSpPr>
        <p:spPr>
          <a:xfrm>
            <a:off x="1143000" y="5394960"/>
            <a:ext cx="4114800" cy="274320"/>
          </a:xfrm>
          <a:prstGeom prst="rect">
            <a:avLst/>
          </a:prstGeom>
          <a:noFill/>
          <a:ln/>
        </p:spPr>
        <p:txBody>
          <a:bodyPr wrap="square" lIns="0" tIns="0" rIns="0" bIns="0" rtlCol="0" anchor="ctr"/>
          <a:lstStyle/>
          <a:p>
            <a:pPr indent="0" marL="0">
              <a:buNone/>
            </a:pPr>
            <a:r>
              <a:rPr lang="en-US" sz="1100" b="1" spc="100" kern="0" dirty="0">
                <a:solidFill>
                  <a:srgbClr val="2C6E8E"/>
                </a:solidFill>
                <a:latin typeface="Calibri" pitchFamily="34" charset="0"/>
                <a:ea typeface="Calibri" pitchFamily="34" charset="-122"/>
                <a:cs typeface="Calibri" pitchFamily="34" charset="-120"/>
              </a:rPr>
              <a:t>PROGRAM &amp; SEMESTER</a:t>
            </a:r>
            <a:endParaRPr lang="en-US" sz="1100" dirty="0"/>
          </a:p>
        </p:txBody>
      </p:sp>
      <p:sp>
        <p:nvSpPr>
          <p:cNvPr id="15" name="Text 12"/>
          <p:cNvSpPr txBox="1"/>
          <p:nvPr/>
        </p:nvSpPr>
        <p:spPr>
          <a:xfrm>
            <a:off x="1143000" y="5669280"/>
            <a:ext cx="4572000" cy="41148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CSE — 3rd Semester</a:t>
            </a:r>
            <a:endParaRPr lang="en-US" sz="1600" dirty="0"/>
          </a:p>
        </p:txBody>
      </p:sp>
      <p:sp>
        <p:nvSpPr>
          <p:cNvPr id="16" name="Text 13"/>
          <p:cNvSpPr txBox="1"/>
          <p:nvPr/>
        </p:nvSpPr>
        <p:spPr>
          <a:xfrm>
            <a:off x="6172200" y="5394960"/>
            <a:ext cx="4114800" cy="274320"/>
          </a:xfrm>
          <a:prstGeom prst="rect">
            <a:avLst/>
          </a:prstGeom>
          <a:noFill/>
          <a:ln/>
        </p:spPr>
        <p:txBody>
          <a:bodyPr wrap="square" lIns="0" tIns="0" rIns="0" bIns="0" rtlCol="0" anchor="ctr"/>
          <a:lstStyle/>
          <a:p>
            <a:pPr indent="0" marL="0">
              <a:buNone/>
            </a:pPr>
            <a:r>
              <a:rPr lang="en-US" sz="1100" b="1" spc="100" kern="0" dirty="0">
                <a:solidFill>
                  <a:srgbClr val="2C6E8E"/>
                </a:solidFill>
                <a:latin typeface="Calibri" pitchFamily="34" charset="0"/>
                <a:ea typeface="Calibri" pitchFamily="34" charset="-122"/>
                <a:cs typeface="Calibri" pitchFamily="34" charset="-120"/>
              </a:rPr>
              <a:t>ORGANIZATION</a:t>
            </a:r>
            <a:endParaRPr lang="en-US" sz="1100" dirty="0"/>
          </a:p>
        </p:txBody>
      </p:sp>
      <p:sp>
        <p:nvSpPr>
          <p:cNvPr id="17" name="Text 14"/>
          <p:cNvSpPr txBox="1"/>
          <p:nvPr/>
        </p:nvSpPr>
        <p:spPr>
          <a:xfrm>
            <a:off x="6172200" y="5669280"/>
            <a:ext cx="4846320" cy="41148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CISCO NETWORKING ACADEMY</a:t>
            </a:r>
            <a:endParaRPr lang="en-US" sz="1600" dirty="0"/>
          </a:p>
        </p:txBody>
      </p:sp>
      <p:sp>
        <p:nvSpPr>
          <p:cNvPr id="18" name="Text 15"/>
          <p:cNvSpPr txBox="1"/>
          <p:nvPr/>
        </p:nvSpPr>
        <p:spPr>
          <a:xfrm>
            <a:off x="822960" y="6382512"/>
            <a:ext cx="7315200" cy="320040"/>
          </a:xfrm>
          <a:prstGeom prst="rect">
            <a:avLst/>
          </a:prstGeom>
          <a:noFill/>
          <a:ln/>
        </p:spPr>
        <p:txBody>
          <a:bodyPr wrap="square" lIns="0" tIns="0" rIns="0" bIns="0" rtlCol="0" anchor="ctr"/>
          <a:lstStyle/>
          <a:p>
            <a:pPr indent="0" marL="0">
              <a:buNone/>
            </a:pPr>
            <a:r>
              <a:rPr lang="en-US" sz="1200" spc="200" kern="0" dirty="0">
                <a:solidFill>
                  <a:srgbClr val="D7E4EE"/>
                </a:solidFill>
                <a:latin typeface="Calibri" pitchFamily="34" charset="0"/>
                <a:ea typeface="Calibri" pitchFamily="34" charset="-122"/>
                <a:cs typeface="Calibri" pitchFamily="34" charset="-120"/>
              </a:rPr>
              <a:t>IILM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22C56"/>
                </a:solidFill>
                <a:latin typeface="Cambria" pitchFamily="34" charset="0"/>
                <a:ea typeface="Cambria" pitchFamily="34" charset="-122"/>
                <a:cs typeface="Cambria" pitchFamily="34" charset="-120"/>
              </a:rPr>
              <a:t>About the Organization</a:t>
            </a:r>
            <a:endParaRPr lang="en-US" sz="3200" dirty="0"/>
          </a:p>
        </p:txBody>
      </p:sp>
      <p:sp>
        <p:nvSpPr>
          <p:cNvPr id="3" name="Shape 1"/>
          <p:cNvSpPr/>
          <p:nvPr/>
        </p:nvSpPr>
        <p:spPr>
          <a:xfrm>
            <a:off x="640080" y="1417320"/>
            <a:ext cx="4297680" cy="4754880"/>
          </a:xfrm>
          <a:prstGeom prst="roundRect">
            <a:avLst>
              <a:gd name="adj" fmla="val 2128"/>
            </a:avLst>
          </a:prstGeom>
          <a:solidFill>
            <a:srgbClr val="122C56"/>
          </a:solidFill>
          <a:ln/>
          <a:effectLst>
            <a:outerShdw sx="100000" sy="100000" kx="0" ky="0" algn="bl" rotWithShape="0" blurRad="127000" dist="38100" dir="5400000">
              <a:srgbClr val="000000">
                <a:alpha val="18000"/>
              </a:srgbClr>
            </a:outerShdw>
          </a:effectLst>
        </p:spPr>
      </p:sp>
      <p:sp>
        <p:nvSpPr>
          <p:cNvPr id="4" name="Shape 2"/>
          <p:cNvSpPr/>
          <p:nvPr/>
        </p:nvSpPr>
        <p:spPr>
          <a:xfrm>
            <a:off x="1965960" y="1874520"/>
            <a:ext cx="1645920" cy="1645920"/>
          </a:xfrm>
          <a:prstGeom prst="ellipse">
            <a:avLst/>
          </a:prstGeom>
          <a:solidFill>
            <a:srgbClr val="2C6E8E"/>
          </a:solidFill>
          <a:ln/>
        </p:spPr>
      </p:sp>
      <p:pic>
        <p:nvPicPr>
          <p:cNvPr id="5" name="Image 0" descr="/home/claude/icon_globe.png">    </p:cNvPr>
          <p:cNvPicPr>
            <a:picLocks noChangeAspect="1"/>
          </p:cNvPicPr>
          <p:nvPr/>
        </p:nvPicPr>
        <p:blipFill>
          <a:blip r:embed="rId1"/>
          <a:stretch>
            <a:fillRect/>
          </a:stretch>
        </p:blipFill>
        <p:spPr>
          <a:xfrm>
            <a:off x="2331720" y="2240280"/>
            <a:ext cx="914400" cy="914400"/>
          </a:xfrm>
          <a:prstGeom prst="rect">
            <a:avLst/>
          </a:prstGeom>
        </p:spPr>
      </p:pic>
      <p:sp>
        <p:nvSpPr>
          <p:cNvPr id="6" name="Text 3"/>
          <p:cNvSpPr txBox="1"/>
          <p:nvPr/>
        </p:nvSpPr>
        <p:spPr>
          <a:xfrm>
            <a:off x="914400" y="3703320"/>
            <a:ext cx="3749040" cy="914400"/>
          </a:xfrm>
          <a:prstGeom prst="rect">
            <a:avLst/>
          </a:prstGeom>
          <a:noFill/>
          <a:ln/>
        </p:spPr>
        <p:txBody>
          <a:bodyPr wrap="square" lIns="0" tIns="0" rIns="0" bIns="0" rtlCol="0" anchor="ctr"/>
          <a:lstStyle/>
          <a:p>
            <a:pPr algn="ctr" indent="0" marL="0">
              <a:lnSpc>
                <a:spcPts val="2800"/>
              </a:lnSpc>
              <a:buNone/>
            </a:pPr>
            <a:r>
              <a:rPr lang="en-US" sz="2200" b="1" dirty="0">
                <a:solidFill>
                  <a:srgbClr val="FFFFFF"/>
                </a:solidFill>
                <a:latin typeface="Cambria" pitchFamily="34" charset="0"/>
                <a:ea typeface="Cambria" pitchFamily="34" charset="-122"/>
                <a:cs typeface="Cambria" pitchFamily="34" charset="-120"/>
              </a:rPr>
              <a:t>Cisco Networking</a:t>
            </a:r>
            <a:endParaRPr lang="en-US" sz="2200" dirty="0"/>
          </a:p>
          <a:p>
            <a:pPr algn="ctr" indent="0" marL="0">
              <a:lnSpc>
                <a:spcPts val="2800"/>
              </a:lnSpc>
              <a:buNone/>
            </a:pPr>
            <a:r>
              <a:rPr lang="en-US" sz="2200" b="1" dirty="0">
                <a:solidFill>
                  <a:srgbClr val="FFFFFF"/>
                </a:solidFill>
                <a:latin typeface="Cambria" pitchFamily="34" charset="0"/>
                <a:ea typeface="Cambria" pitchFamily="34" charset="-122"/>
                <a:cs typeface="Cambria" pitchFamily="34" charset="-120"/>
              </a:rPr>
              <a:t>Academy</a:t>
            </a:r>
            <a:endParaRPr lang="en-US" sz="2200" dirty="0"/>
          </a:p>
        </p:txBody>
      </p:sp>
      <p:sp>
        <p:nvSpPr>
          <p:cNvPr id="7" name="Text 4"/>
          <p:cNvSpPr txBox="1"/>
          <p:nvPr/>
        </p:nvSpPr>
        <p:spPr>
          <a:xfrm>
            <a:off x="1051560" y="4709160"/>
            <a:ext cx="3566160" cy="1188720"/>
          </a:xfrm>
          <a:prstGeom prst="rect">
            <a:avLst/>
          </a:prstGeom>
          <a:noFill/>
          <a:ln/>
        </p:spPr>
        <p:txBody>
          <a:bodyPr wrap="square" lIns="0" tIns="0" rIns="0" bIns="0" rtlCol="0" anchor="ctr"/>
          <a:lstStyle/>
          <a:p>
            <a:pPr algn="ctr" indent="0" marL="0">
              <a:buNone/>
            </a:pPr>
            <a:r>
              <a:rPr lang="en-US" sz="1300" dirty="0">
                <a:solidFill>
                  <a:srgbClr val="D7E4EE"/>
                </a:solidFill>
                <a:latin typeface="Calibri" pitchFamily="34" charset="0"/>
                <a:ea typeface="Calibri" pitchFamily="34" charset="-122"/>
                <a:cs typeface="Calibri" pitchFamily="34" charset="-120"/>
              </a:rPr>
              <a:t>A global IT skills and career-building program run by Cisco, teaching networking to millions of students worldwide.</a:t>
            </a:r>
            <a:endParaRPr lang="en-US" sz="1300" dirty="0"/>
          </a:p>
        </p:txBody>
      </p:sp>
      <p:sp>
        <p:nvSpPr>
          <p:cNvPr id="8" name="Shape 5"/>
          <p:cNvSpPr/>
          <p:nvPr/>
        </p:nvSpPr>
        <p:spPr>
          <a:xfrm>
            <a:off x="5257800" y="1481328"/>
            <a:ext cx="457200" cy="457200"/>
          </a:xfrm>
          <a:prstGeom prst="ellipse">
            <a:avLst/>
          </a:prstGeom>
          <a:solidFill>
            <a:srgbClr val="2C6E8E"/>
          </a:solidFill>
          <a:ln/>
        </p:spPr>
      </p:sp>
      <p:sp>
        <p:nvSpPr>
          <p:cNvPr id="9" name="Text 6"/>
          <p:cNvSpPr txBox="1"/>
          <p:nvPr/>
        </p:nvSpPr>
        <p:spPr>
          <a:xfrm>
            <a:off x="5257800" y="14813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5897880" y="1417320"/>
            <a:ext cx="5577840" cy="365760"/>
          </a:xfrm>
          <a:prstGeom prst="rect">
            <a:avLst/>
          </a:prstGeom>
          <a:noFill/>
          <a:ln/>
        </p:spPr>
        <p:txBody>
          <a:bodyPr wrap="square" lIns="0" tIns="0" rIns="0" bIns="0" rtlCol="0" anchor="ctr"/>
          <a:lstStyle/>
          <a:p>
            <a:pPr indent="0" marL="0">
              <a:buNone/>
            </a:pPr>
            <a:r>
              <a:rPr lang="en-US" sz="1700" b="1" dirty="0">
                <a:solidFill>
                  <a:srgbClr val="122C56"/>
                </a:solidFill>
                <a:latin typeface="Calibri" pitchFamily="34" charset="0"/>
                <a:ea typeface="Calibri" pitchFamily="34" charset="-122"/>
                <a:cs typeface="Calibri" pitchFamily="34" charset="-120"/>
              </a:rPr>
              <a:t>Global Reach</a:t>
            </a:r>
            <a:endParaRPr lang="en-US" sz="1700" dirty="0"/>
          </a:p>
        </p:txBody>
      </p:sp>
      <p:sp>
        <p:nvSpPr>
          <p:cNvPr id="11" name="Text 8"/>
          <p:cNvSpPr txBox="1"/>
          <p:nvPr/>
        </p:nvSpPr>
        <p:spPr>
          <a:xfrm>
            <a:off x="5897880" y="1783080"/>
            <a:ext cx="5623560" cy="68580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Operating in over 190 countries through partnerships with schools, colleges, and universities.</a:t>
            </a:r>
            <a:endParaRPr lang="en-US" sz="1300" dirty="0"/>
          </a:p>
        </p:txBody>
      </p:sp>
      <p:sp>
        <p:nvSpPr>
          <p:cNvPr id="12" name="Shape 9"/>
          <p:cNvSpPr/>
          <p:nvPr/>
        </p:nvSpPr>
        <p:spPr>
          <a:xfrm>
            <a:off x="5257800" y="2688336"/>
            <a:ext cx="457200" cy="457200"/>
          </a:xfrm>
          <a:prstGeom prst="ellipse">
            <a:avLst/>
          </a:prstGeom>
          <a:solidFill>
            <a:srgbClr val="8E1B3C"/>
          </a:solidFill>
          <a:ln/>
        </p:spPr>
      </p:sp>
      <p:sp>
        <p:nvSpPr>
          <p:cNvPr id="13" name="Text 10"/>
          <p:cNvSpPr txBox="1"/>
          <p:nvPr/>
        </p:nvSpPr>
        <p:spPr>
          <a:xfrm>
            <a:off x="5257800"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5897880" y="2624328"/>
            <a:ext cx="5577840" cy="365760"/>
          </a:xfrm>
          <a:prstGeom prst="rect">
            <a:avLst/>
          </a:prstGeom>
          <a:noFill/>
          <a:ln/>
        </p:spPr>
        <p:txBody>
          <a:bodyPr wrap="square" lIns="0" tIns="0" rIns="0" bIns="0" rtlCol="0" anchor="ctr"/>
          <a:lstStyle/>
          <a:p>
            <a:pPr indent="0" marL="0">
              <a:buNone/>
            </a:pPr>
            <a:r>
              <a:rPr lang="en-US" sz="1700" b="1" dirty="0">
                <a:solidFill>
                  <a:srgbClr val="122C56"/>
                </a:solidFill>
                <a:latin typeface="Calibri" pitchFamily="34" charset="0"/>
                <a:ea typeface="Calibri" pitchFamily="34" charset="-122"/>
                <a:cs typeface="Calibri" pitchFamily="34" charset="-120"/>
              </a:rPr>
              <a:t>Hands-on Curriculum</a:t>
            </a:r>
            <a:endParaRPr lang="en-US" sz="1700" dirty="0"/>
          </a:p>
        </p:txBody>
      </p:sp>
      <p:sp>
        <p:nvSpPr>
          <p:cNvPr id="15" name="Text 12"/>
          <p:cNvSpPr txBox="1"/>
          <p:nvPr/>
        </p:nvSpPr>
        <p:spPr>
          <a:xfrm>
            <a:off x="5897880" y="2990088"/>
            <a:ext cx="5623560" cy="68580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Combines theory with simulations and lab exercises using tools like Cisco Packet Tracer.</a:t>
            </a:r>
            <a:endParaRPr lang="en-US" sz="1300" dirty="0"/>
          </a:p>
        </p:txBody>
      </p:sp>
      <p:sp>
        <p:nvSpPr>
          <p:cNvPr id="16" name="Shape 13"/>
          <p:cNvSpPr/>
          <p:nvPr/>
        </p:nvSpPr>
        <p:spPr>
          <a:xfrm>
            <a:off x="5257800" y="3895344"/>
            <a:ext cx="457200" cy="457200"/>
          </a:xfrm>
          <a:prstGeom prst="ellipse">
            <a:avLst/>
          </a:prstGeom>
          <a:solidFill>
            <a:srgbClr val="2C6E8E"/>
          </a:solidFill>
          <a:ln/>
        </p:spPr>
      </p:sp>
      <p:sp>
        <p:nvSpPr>
          <p:cNvPr id="17" name="Text 14"/>
          <p:cNvSpPr txBox="1"/>
          <p:nvPr/>
        </p:nvSpPr>
        <p:spPr>
          <a:xfrm>
            <a:off x="5257800" y="38953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5897880" y="3831336"/>
            <a:ext cx="5577840" cy="365760"/>
          </a:xfrm>
          <a:prstGeom prst="rect">
            <a:avLst/>
          </a:prstGeom>
          <a:noFill/>
          <a:ln/>
        </p:spPr>
        <p:txBody>
          <a:bodyPr wrap="square" lIns="0" tIns="0" rIns="0" bIns="0" rtlCol="0" anchor="ctr"/>
          <a:lstStyle/>
          <a:p>
            <a:pPr indent="0" marL="0">
              <a:buNone/>
            </a:pPr>
            <a:r>
              <a:rPr lang="en-US" sz="1700" b="1" dirty="0">
                <a:solidFill>
                  <a:srgbClr val="122C56"/>
                </a:solidFill>
                <a:latin typeface="Calibri" pitchFamily="34" charset="0"/>
                <a:ea typeface="Calibri" pitchFamily="34" charset="-122"/>
                <a:cs typeface="Calibri" pitchFamily="34" charset="-120"/>
              </a:rPr>
              <a:t>Industry-Recognized</a:t>
            </a:r>
            <a:endParaRPr lang="en-US" sz="1700" dirty="0"/>
          </a:p>
        </p:txBody>
      </p:sp>
      <p:sp>
        <p:nvSpPr>
          <p:cNvPr id="19" name="Text 16"/>
          <p:cNvSpPr txBox="1"/>
          <p:nvPr/>
        </p:nvSpPr>
        <p:spPr>
          <a:xfrm>
            <a:off x="5897880" y="4197096"/>
            <a:ext cx="5623560" cy="68580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Certifications aligned with real-world IT and networking job roles.</a:t>
            </a:r>
            <a:endParaRPr lang="en-US" sz="1300" dirty="0"/>
          </a:p>
        </p:txBody>
      </p:sp>
      <p:sp>
        <p:nvSpPr>
          <p:cNvPr id="20" name="Shape 17"/>
          <p:cNvSpPr/>
          <p:nvPr/>
        </p:nvSpPr>
        <p:spPr>
          <a:xfrm>
            <a:off x="5257800" y="5102352"/>
            <a:ext cx="457200" cy="457200"/>
          </a:xfrm>
          <a:prstGeom prst="ellipse">
            <a:avLst/>
          </a:prstGeom>
          <a:solidFill>
            <a:srgbClr val="8E1B3C"/>
          </a:solidFill>
          <a:ln/>
        </p:spPr>
      </p:sp>
      <p:sp>
        <p:nvSpPr>
          <p:cNvPr id="21" name="Text 18"/>
          <p:cNvSpPr txBox="1"/>
          <p:nvPr/>
        </p:nvSpPr>
        <p:spPr>
          <a:xfrm>
            <a:off x="5257800" y="5102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5897880" y="5038344"/>
            <a:ext cx="5577840" cy="365760"/>
          </a:xfrm>
          <a:prstGeom prst="rect">
            <a:avLst/>
          </a:prstGeom>
          <a:noFill/>
          <a:ln/>
        </p:spPr>
        <p:txBody>
          <a:bodyPr wrap="square" lIns="0" tIns="0" rIns="0" bIns="0" rtlCol="0" anchor="ctr"/>
          <a:lstStyle/>
          <a:p>
            <a:pPr indent="0" marL="0">
              <a:buNone/>
            </a:pPr>
            <a:r>
              <a:rPr lang="en-US" sz="1700" b="1" dirty="0">
                <a:solidFill>
                  <a:srgbClr val="122C56"/>
                </a:solidFill>
                <a:latin typeface="Calibri" pitchFamily="34" charset="0"/>
                <a:ea typeface="Calibri" pitchFamily="34" charset="-122"/>
                <a:cs typeface="Calibri" pitchFamily="34" charset="-120"/>
              </a:rPr>
              <a:t>Beginner Friendly</a:t>
            </a:r>
            <a:endParaRPr lang="en-US" sz="1700" dirty="0"/>
          </a:p>
        </p:txBody>
      </p:sp>
      <p:sp>
        <p:nvSpPr>
          <p:cNvPr id="23" name="Text 20"/>
          <p:cNvSpPr txBox="1"/>
          <p:nvPr/>
        </p:nvSpPr>
        <p:spPr>
          <a:xfrm>
            <a:off x="5897880" y="5404104"/>
            <a:ext cx="5623560" cy="68580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The "Networking Basics" course is designed as an entry point for students new to IT and networking concepts.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22C56"/>
                </a:solidFill>
                <a:latin typeface="Cambria" pitchFamily="34" charset="0"/>
                <a:ea typeface="Cambria" pitchFamily="34" charset="-122"/>
                <a:cs typeface="Cambria" pitchFamily="34" charset="-120"/>
              </a:rPr>
              <a:t>Course Overview</a:t>
            </a:r>
            <a:endParaRPr lang="en-US" sz="3200" dirty="0"/>
          </a:p>
        </p:txBody>
      </p:sp>
      <p:sp>
        <p:nvSpPr>
          <p:cNvPr id="3" name="Text 1"/>
          <p:cNvSpPr txBox="1"/>
          <p:nvPr/>
        </p:nvSpPr>
        <p:spPr>
          <a:xfrm>
            <a:off x="640080" y="1097280"/>
            <a:ext cx="9144000" cy="365760"/>
          </a:xfrm>
          <a:prstGeom prst="rect">
            <a:avLst/>
          </a:prstGeom>
          <a:noFill/>
          <a:ln/>
        </p:spPr>
        <p:txBody>
          <a:bodyPr wrap="square" lIns="0" tIns="0" rIns="0" bIns="0" rtlCol="0" anchor="ctr"/>
          <a:lstStyle/>
          <a:p>
            <a:pPr indent="0" marL="0">
              <a:buNone/>
            </a:pPr>
            <a:r>
              <a:rPr lang="en-US" sz="1500" i="1" dirty="0">
                <a:solidFill>
                  <a:srgbClr val="5C6773"/>
                </a:solidFill>
                <a:latin typeface="Calibri" pitchFamily="34" charset="0"/>
                <a:ea typeface="Calibri" pitchFamily="34" charset="-122"/>
                <a:cs typeface="Calibri" pitchFamily="34" charset="-120"/>
              </a:rPr>
              <a:t>What "Networking Basics" set out to teach</a:t>
            </a:r>
            <a:endParaRPr lang="en-US" sz="1500" dirty="0"/>
          </a:p>
        </p:txBody>
      </p:sp>
      <p:sp>
        <p:nvSpPr>
          <p:cNvPr id="4" name="Text 2"/>
          <p:cNvSpPr txBox="1"/>
          <p:nvPr/>
        </p:nvSpPr>
        <p:spPr>
          <a:xfrm>
            <a:off x="640080" y="1600200"/>
            <a:ext cx="10881360" cy="1371600"/>
          </a:xfrm>
          <a:prstGeom prst="rect">
            <a:avLst/>
          </a:prstGeom>
          <a:noFill/>
          <a:ln/>
        </p:spPr>
        <p:txBody>
          <a:bodyPr wrap="square" lIns="0" tIns="0" rIns="0" bIns="0" rtlCol="0" anchor="ctr"/>
          <a:lstStyle/>
          <a:p>
            <a:pPr indent="0" marL="0">
              <a:lnSpc>
                <a:spcPct val="125000"/>
              </a:lnSpc>
              <a:buNone/>
            </a:pPr>
            <a:r>
              <a:rPr lang="en-US" sz="1500" dirty="0">
                <a:solidFill>
                  <a:srgbClr val="1D2733"/>
                </a:solidFill>
                <a:latin typeface="Calibri" pitchFamily="34" charset="0"/>
                <a:ea typeface="Calibri" pitchFamily="34" charset="-122"/>
                <a:cs typeface="Calibri" pitchFamily="34" charset="-120"/>
              </a:rPr>
              <a:t>Networking Basics is an introductory course offered through the Cisco Networking Academy program. It builds a foundation in how computers, devices, and networks communicate with one another — the same foundation used across almost every modern IT role. The course walks through core concepts step by step, moving from how data physically travels between devices to how it is addressed, routed, and secured.</a:t>
            </a:r>
            <a:endParaRPr lang="en-US" sz="1500" dirty="0"/>
          </a:p>
        </p:txBody>
      </p:sp>
      <p:sp>
        <p:nvSpPr>
          <p:cNvPr id="5" name="Shape 3"/>
          <p:cNvSpPr/>
          <p:nvPr/>
        </p:nvSpPr>
        <p:spPr>
          <a:xfrm>
            <a:off x="640080" y="3200400"/>
            <a:ext cx="3429000" cy="2606040"/>
          </a:xfrm>
          <a:prstGeom prst="roundRect">
            <a:avLst>
              <a:gd name="adj" fmla="val 3509"/>
            </a:avLst>
          </a:prstGeom>
          <a:solidFill>
            <a:srgbClr val="F5F7FA"/>
          </a:solidFill>
          <a:ln w="12700">
            <a:solidFill>
              <a:srgbClr val="D7E4EE"/>
            </a:solidFill>
            <a:prstDash val="solid"/>
          </a:ln>
        </p:spPr>
      </p:sp>
      <p:sp>
        <p:nvSpPr>
          <p:cNvPr id="6" name="Text 4"/>
          <p:cNvSpPr txBox="1"/>
          <p:nvPr/>
        </p:nvSpPr>
        <p:spPr>
          <a:xfrm>
            <a:off x="868680" y="3474720"/>
            <a:ext cx="2971800" cy="502920"/>
          </a:xfrm>
          <a:prstGeom prst="rect">
            <a:avLst/>
          </a:prstGeom>
          <a:noFill/>
          <a:ln/>
        </p:spPr>
        <p:txBody>
          <a:bodyPr wrap="square" lIns="0" tIns="0" rIns="0" bIns="0" rtlCol="0" anchor="ctr"/>
          <a:lstStyle/>
          <a:p>
            <a:pPr indent="0" marL="0">
              <a:buNone/>
            </a:pPr>
            <a:r>
              <a:rPr lang="en-US" sz="2600" b="1" dirty="0">
                <a:solidFill>
                  <a:srgbClr val="2C6E8E"/>
                </a:solidFill>
                <a:latin typeface="Cambria" pitchFamily="34" charset="0"/>
                <a:ea typeface="Cambria" pitchFamily="34" charset="-122"/>
                <a:cs typeface="Cambria" pitchFamily="34" charset="-120"/>
              </a:rPr>
              <a:t>Foundational</a:t>
            </a:r>
            <a:endParaRPr lang="en-US" sz="2600" dirty="0"/>
          </a:p>
        </p:txBody>
      </p:sp>
      <p:sp>
        <p:nvSpPr>
          <p:cNvPr id="7" name="Text 5"/>
          <p:cNvSpPr txBox="1"/>
          <p:nvPr/>
        </p:nvSpPr>
        <p:spPr>
          <a:xfrm>
            <a:off x="868680" y="3959352"/>
            <a:ext cx="2971800" cy="320040"/>
          </a:xfrm>
          <a:prstGeom prst="rect">
            <a:avLst/>
          </a:prstGeom>
          <a:noFill/>
          <a:ln/>
        </p:spPr>
        <p:txBody>
          <a:bodyPr wrap="square" lIns="0" tIns="0" rIns="0" bIns="0" rtlCol="0" anchor="ctr"/>
          <a:lstStyle/>
          <a:p>
            <a:pPr indent="0" marL="0">
              <a:buNone/>
            </a:pPr>
            <a:r>
              <a:rPr lang="en-US" sz="1300" b="1" spc="100" kern="0" dirty="0">
                <a:solidFill>
                  <a:srgbClr val="122C56"/>
                </a:solidFill>
                <a:latin typeface="Calibri" pitchFamily="34" charset="0"/>
                <a:ea typeface="Calibri" pitchFamily="34" charset="-122"/>
                <a:cs typeface="Calibri" pitchFamily="34" charset="-120"/>
              </a:rPr>
              <a:t>LEVEL</a:t>
            </a:r>
            <a:endParaRPr lang="en-US" sz="1300" dirty="0"/>
          </a:p>
        </p:txBody>
      </p:sp>
      <p:sp>
        <p:nvSpPr>
          <p:cNvPr id="8" name="Shape 6"/>
          <p:cNvSpPr/>
          <p:nvPr/>
        </p:nvSpPr>
        <p:spPr>
          <a:xfrm>
            <a:off x="868680" y="4389120"/>
            <a:ext cx="548640" cy="0"/>
          </a:xfrm>
          <a:prstGeom prst="line">
            <a:avLst/>
          </a:prstGeom>
          <a:noFill/>
          <a:ln w="19050">
            <a:solidFill>
              <a:srgbClr val="D7E4EE"/>
            </a:solidFill>
            <a:prstDash val="solid"/>
          </a:ln>
        </p:spPr>
      </p:sp>
      <p:sp>
        <p:nvSpPr>
          <p:cNvPr id="9" name="Text 7"/>
          <p:cNvSpPr txBox="1"/>
          <p:nvPr/>
        </p:nvSpPr>
        <p:spPr>
          <a:xfrm>
            <a:off x="868680" y="4553712"/>
            <a:ext cx="3017520" cy="105156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No prior networking experience required</a:t>
            </a:r>
            <a:endParaRPr lang="en-US" sz="1300" dirty="0"/>
          </a:p>
        </p:txBody>
      </p:sp>
      <p:sp>
        <p:nvSpPr>
          <p:cNvPr id="10" name="Shape 8"/>
          <p:cNvSpPr/>
          <p:nvPr/>
        </p:nvSpPr>
        <p:spPr>
          <a:xfrm>
            <a:off x="4343400" y="3200400"/>
            <a:ext cx="3429000" cy="2606040"/>
          </a:xfrm>
          <a:prstGeom prst="roundRect">
            <a:avLst>
              <a:gd name="adj" fmla="val 3509"/>
            </a:avLst>
          </a:prstGeom>
          <a:solidFill>
            <a:srgbClr val="F5F7FA"/>
          </a:solidFill>
          <a:ln w="12700">
            <a:solidFill>
              <a:srgbClr val="D7E4EE"/>
            </a:solidFill>
            <a:prstDash val="solid"/>
          </a:ln>
        </p:spPr>
      </p:sp>
      <p:sp>
        <p:nvSpPr>
          <p:cNvPr id="11" name="Text 9"/>
          <p:cNvSpPr txBox="1"/>
          <p:nvPr/>
        </p:nvSpPr>
        <p:spPr>
          <a:xfrm>
            <a:off x="4572000" y="3474720"/>
            <a:ext cx="2971800" cy="502920"/>
          </a:xfrm>
          <a:prstGeom prst="rect">
            <a:avLst/>
          </a:prstGeom>
          <a:noFill/>
          <a:ln/>
        </p:spPr>
        <p:txBody>
          <a:bodyPr wrap="square" lIns="0" tIns="0" rIns="0" bIns="0" rtlCol="0" anchor="ctr"/>
          <a:lstStyle/>
          <a:p>
            <a:pPr indent="0" marL="0">
              <a:buNone/>
            </a:pPr>
            <a:r>
              <a:rPr lang="en-US" sz="2600" b="1" dirty="0">
                <a:solidFill>
                  <a:srgbClr val="8E1B3C"/>
                </a:solidFill>
                <a:latin typeface="Cambria" pitchFamily="34" charset="0"/>
                <a:ea typeface="Cambria" pitchFamily="34" charset="-122"/>
                <a:cs typeface="Cambria" pitchFamily="34" charset="-120"/>
              </a:rPr>
              <a:t>Hands-on</a:t>
            </a:r>
            <a:endParaRPr lang="en-US" sz="2600" dirty="0"/>
          </a:p>
        </p:txBody>
      </p:sp>
      <p:sp>
        <p:nvSpPr>
          <p:cNvPr id="12" name="Text 10"/>
          <p:cNvSpPr txBox="1"/>
          <p:nvPr/>
        </p:nvSpPr>
        <p:spPr>
          <a:xfrm>
            <a:off x="4572000" y="3959352"/>
            <a:ext cx="2971800" cy="320040"/>
          </a:xfrm>
          <a:prstGeom prst="rect">
            <a:avLst/>
          </a:prstGeom>
          <a:noFill/>
          <a:ln/>
        </p:spPr>
        <p:txBody>
          <a:bodyPr wrap="square" lIns="0" tIns="0" rIns="0" bIns="0" rtlCol="0" anchor="ctr"/>
          <a:lstStyle/>
          <a:p>
            <a:pPr indent="0" marL="0">
              <a:buNone/>
            </a:pPr>
            <a:r>
              <a:rPr lang="en-US" sz="1300" b="1" spc="100" kern="0" dirty="0">
                <a:solidFill>
                  <a:srgbClr val="122C56"/>
                </a:solidFill>
                <a:latin typeface="Calibri" pitchFamily="34" charset="0"/>
                <a:ea typeface="Calibri" pitchFamily="34" charset="-122"/>
                <a:cs typeface="Calibri" pitchFamily="34" charset="-120"/>
              </a:rPr>
              <a:t>APPROACH</a:t>
            </a:r>
            <a:endParaRPr lang="en-US" sz="1300" dirty="0"/>
          </a:p>
        </p:txBody>
      </p:sp>
      <p:sp>
        <p:nvSpPr>
          <p:cNvPr id="13" name="Shape 11"/>
          <p:cNvSpPr/>
          <p:nvPr/>
        </p:nvSpPr>
        <p:spPr>
          <a:xfrm>
            <a:off x="4572000" y="4389120"/>
            <a:ext cx="548640" cy="0"/>
          </a:xfrm>
          <a:prstGeom prst="line">
            <a:avLst/>
          </a:prstGeom>
          <a:noFill/>
          <a:ln w="19050">
            <a:solidFill>
              <a:srgbClr val="D7E4EE"/>
            </a:solidFill>
            <a:prstDash val="solid"/>
          </a:ln>
        </p:spPr>
      </p:sp>
      <p:sp>
        <p:nvSpPr>
          <p:cNvPr id="14" name="Text 12"/>
          <p:cNvSpPr txBox="1"/>
          <p:nvPr/>
        </p:nvSpPr>
        <p:spPr>
          <a:xfrm>
            <a:off x="4572000" y="4553712"/>
            <a:ext cx="3017520" cy="105156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Simulations &amp; real device concepts</a:t>
            </a:r>
            <a:endParaRPr lang="en-US" sz="1300" dirty="0"/>
          </a:p>
        </p:txBody>
      </p:sp>
      <p:sp>
        <p:nvSpPr>
          <p:cNvPr id="15" name="Shape 13"/>
          <p:cNvSpPr/>
          <p:nvPr/>
        </p:nvSpPr>
        <p:spPr>
          <a:xfrm>
            <a:off x="8046720" y="3200400"/>
            <a:ext cx="3429000" cy="2606040"/>
          </a:xfrm>
          <a:prstGeom prst="roundRect">
            <a:avLst>
              <a:gd name="adj" fmla="val 3509"/>
            </a:avLst>
          </a:prstGeom>
          <a:solidFill>
            <a:srgbClr val="F5F7FA"/>
          </a:solidFill>
          <a:ln w="12700">
            <a:solidFill>
              <a:srgbClr val="D7E4EE"/>
            </a:solidFill>
            <a:prstDash val="solid"/>
          </a:ln>
        </p:spPr>
      </p:sp>
      <p:sp>
        <p:nvSpPr>
          <p:cNvPr id="16" name="Text 14"/>
          <p:cNvSpPr txBox="1"/>
          <p:nvPr/>
        </p:nvSpPr>
        <p:spPr>
          <a:xfrm>
            <a:off x="8275320" y="3474720"/>
            <a:ext cx="2971800" cy="502920"/>
          </a:xfrm>
          <a:prstGeom prst="rect">
            <a:avLst/>
          </a:prstGeom>
          <a:noFill/>
          <a:ln/>
        </p:spPr>
        <p:txBody>
          <a:bodyPr wrap="square" lIns="0" tIns="0" rIns="0" bIns="0" rtlCol="0" anchor="ctr"/>
          <a:lstStyle/>
          <a:p>
            <a:pPr indent="0" marL="0">
              <a:buNone/>
            </a:pPr>
            <a:r>
              <a:rPr lang="en-US" sz="2600" b="1" dirty="0">
                <a:solidFill>
                  <a:srgbClr val="2C6E8E"/>
                </a:solidFill>
                <a:latin typeface="Cambria" pitchFamily="34" charset="0"/>
                <a:ea typeface="Cambria" pitchFamily="34" charset="-122"/>
                <a:cs typeface="Cambria" pitchFamily="34" charset="-120"/>
              </a:rPr>
              <a:t>Industry</a:t>
            </a:r>
            <a:endParaRPr lang="en-US" sz="2600" dirty="0"/>
          </a:p>
        </p:txBody>
      </p:sp>
      <p:sp>
        <p:nvSpPr>
          <p:cNvPr id="17" name="Text 15"/>
          <p:cNvSpPr txBox="1"/>
          <p:nvPr/>
        </p:nvSpPr>
        <p:spPr>
          <a:xfrm>
            <a:off x="8275320" y="3959352"/>
            <a:ext cx="2971800" cy="320040"/>
          </a:xfrm>
          <a:prstGeom prst="rect">
            <a:avLst/>
          </a:prstGeom>
          <a:noFill/>
          <a:ln/>
        </p:spPr>
        <p:txBody>
          <a:bodyPr wrap="square" lIns="0" tIns="0" rIns="0" bIns="0" rtlCol="0" anchor="ctr"/>
          <a:lstStyle/>
          <a:p>
            <a:pPr indent="0" marL="0">
              <a:buNone/>
            </a:pPr>
            <a:r>
              <a:rPr lang="en-US" sz="1300" b="1" spc="100" kern="0" dirty="0">
                <a:solidFill>
                  <a:srgbClr val="122C56"/>
                </a:solidFill>
                <a:latin typeface="Calibri" pitchFamily="34" charset="0"/>
                <a:ea typeface="Calibri" pitchFamily="34" charset="-122"/>
                <a:cs typeface="Calibri" pitchFamily="34" charset="-120"/>
              </a:rPr>
              <a:t>ALIGNED</a:t>
            </a:r>
            <a:endParaRPr lang="en-US" sz="1300" dirty="0"/>
          </a:p>
        </p:txBody>
      </p:sp>
      <p:sp>
        <p:nvSpPr>
          <p:cNvPr id="18" name="Shape 16"/>
          <p:cNvSpPr/>
          <p:nvPr/>
        </p:nvSpPr>
        <p:spPr>
          <a:xfrm>
            <a:off x="8275320" y="4389120"/>
            <a:ext cx="548640" cy="0"/>
          </a:xfrm>
          <a:prstGeom prst="line">
            <a:avLst/>
          </a:prstGeom>
          <a:noFill/>
          <a:ln w="19050">
            <a:solidFill>
              <a:srgbClr val="D7E4EE"/>
            </a:solidFill>
            <a:prstDash val="solid"/>
          </a:ln>
        </p:spPr>
      </p:sp>
      <p:sp>
        <p:nvSpPr>
          <p:cNvPr id="19" name="Text 17"/>
          <p:cNvSpPr txBox="1"/>
          <p:nvPr/>
        </p:nvSpPr>
        <p:spPr>
          <a:xfrm>
            <a:off x="8275320" y="4553712"/>
            <a:ext cx="3017520" cy="1051560"/>
          </a:xfrm>
          <a:prstGeom prst="rect">
            <a:avLst/>
          </a:prstGeom>
          <a:noFill/>
          <a:ln/>
        </p:spPr>
        <p:txBody>
          <a:bodyPr wrap="square" lIns="0" tIns="0" rIns="0" bIns="0" rtlCol="0" anchor="ctr"/>
          <a:lstStyle/>
          <a:p>
            <a:pPr indent="0" marL="0">
              <a:buNone/>
            </a:pPr>
            <a:r>
              <a:rPr lang="en-US" sz="1300" dirty="0">
                <a:solidFill>
                  <a:srgbClr val="5C6773"/>
                </a:solidFill>
                <a:latin typeface="Calibri" pitchFamily="34" charset="0"/>
                <a:ea typeface="Calibri" pitchFamily="34" charset="-122"/>
                <a:cs typeface="Calibri" pitchFamily="34" charset="-120"/>
              </a:rPr>
              <a:t>Maps to entry-level IT job skills</a:t>
            </a:r>
            <a:endParaRPr lang="en-US" sz="1300" dirty="0"/>
          </a:p>
        </p:txBody>
      </p:sp>
      <p:sp>
        <p:nvSpPr>
          <p:cNvPr id="20" name="Shape 18"/>
          <p:cNvSpPr/>
          <p:nvPr/>
        </p:nvSpPr>
        <p:spPr>
          <a:xfrm>
            <a:off x="640080" y="6126480"/>
            <a:ext cx="10881360" cy="0"/>
          </a:xfrm>
          <a:prstGeom prst="line">
            <a:avLst/>
          </a:prstGeom>
          <a:noFill/>
          <a:ln w="12700">
            <a:solidFill>
              <a:srgbClr val="D7E4EE"/>
            </a:solidFill>
            <a:prstDash val="solid"/>
          </a:ln>
        </p:spPr>
      </p:sp>
      <p:sp>
        <p:nvSpPr>
          <p:cNvPr id="21" name="Text 19"/>
          <p:cNvSpPr txBox="1"/>
          <p:nvPr/>
        </p:nvSpPr>
        <p:spPr>
          <a:xfrm>
            <a:off x="640080" y="6263640"/>
            <a:ext cx="9144000" cy="320040"/>
          </a:xfrm>
          <a:prstGeom prst="rect">
            <a:avLst/>
          </a:prstGeom>
          <a:noFill/>
          <a:ln/>
        </p:spPr>
        <p:txBody>
          <a:bodyPr wrap="square" lIns="0" tIns="0" rIns="0" bIns="0" rtlCol="0" anchor="ctr"/>
          <a:lstStyle/>
          <a:p>
            <a:pPr indent="0" marL="0">
              <a:buNone/>
            </a:pPr>
            <a:r>
              <a:rPr lang="en-US" sz="1100" i="1" dirty="0">
                <a:solidFill>
                  <a:srgbClr val="5C6773"/>
                </a:solidFill>
                <a:latin typeface="Calibri" pitchFamily="34" charset="0"/>
                <a:ea typeface="Calibri" pitchFamily="34" charset="-122"/>
                <a:cs typeface="Calibri" pitchFamily="34" charset="-120"/>
              </a:rPr>
              <a:t>Delivered by Cisco Networking Academy  •  Completed 30 August 2026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22C56"/>
                </a:solidFill>
                <a:latin typeface="Cambria" pitchFamily="34" charset="0"/>
                <a:ea typeface="Cambria" pitchFamily="34" charset="-122"/>
                <a:cs typeface="Cambria" pitchFamily="34" charset="-120"/>
              </a:rPr>
              <a:t>Key Topics Learned</a:t>
            </a:r>
            <a:endParaRPr lang="en-US" sz="3200" dirty="0"/>
          </a:p>
        </p:txBody>
      </p:sp>
      <p:sp>
        <p:nvSpPr>
          <p:cNvPr id="3" name="Text 1"/>
          <p:cNvSpPr txBox="1"/>
          <p:nvPr/>
        </p:nvSpPr>
        <p:spPr>
          <a:xfrm>
            <a:off x="640080" y="1097280"/>
            <a:ext cx="9144000" cy="365760"/>
          </a:xfrm>
          <a:prstGeom prst="rect">
            <a:avLst/>
          </a:prstGeom>
          <a:noFill/>
          <a:ln/>
        </p:spPr>
        <p:txBody>
          <a:bodyPr wrap="square" lIns="0" tIns="0" rIns="0" bIns="0" rtlCol="0" anchor="ctr"/>
          <a:lstStyle/>
          <a:p>
            <a:pPr indent="0" marL="0">
              <a:buNone/>
            </a:pPr>
            <a:r>
              <a:rPr lang="en-US" sz="1500" i="1" dirty="0">
                <a:solidFill>
                  <a:srgbClr val="5C6773"/>
                </a:solidFill>
                <a:latin typeface="Calibri" pitchFamily="34" charset="0"/>
                <a:ea typeface="Calibri" pitchFamily="34" charset="-122"/>
                <a:cs typeface="Calibri" pitchFamily="34" charset="-120"/>
              </a:rPr>
              <a:t>Six core building blocks covered across the course</a:t>
            </a:r>
            <a:endParaRPr lang="en-US" sz="1500" dirty="0"/>
          </a:p>
        </p:txBody>
      </p:sp>
      <p:sp>
        <p:nvSpPr>
          <p:cNvPr id="4" name="Shape 2"/>
          <p:cNvSpPr/>
          <p:nvPr/>
        </p:nvSpPr>
        <p:spPr>
          <a:xfrm>
            <a:off x="640080" y="1691640"/>
            <a:ext cx="3429000" cy="2148840"/>
          </a:xfrm>
          <a:prstGeom prst="roundRect">
            <a:avLst>
              <a:gd name="adj" fmla="val 4255"/>
            </a:avLst>
          </a:prstGeom>
          <a:solidFill>
            <a:srgbClr val="FFFFFF"/>
          </a:solidFill>
          <a:ln/>
          <a:effectLst>
            <a:outerShdw sx="100000" sy="100000" kx="0" ky="0" algn="bl" rotWithShape="0" blurRad="101600" dist="38100" dir="5400000">
              <a:srgbClr val="000000">
                <a:alpha val="12000"/>
              </a:srgbClr>
            </a:outerShdw>
          </a:effectLst>
        </p:spPr>
      </p:sp>
      <p:sp>
        <p:nvSpPr>
          <p:cNvPr id="5" name="Shape 3"/>
          <p:cNvSpPr/>
          <p:nvPr/>
        </p:nvSpPr>
        <p:spPr>
          <a:xfrm>
            <a:off x="868680" y="1920240"/>
            <a:ext cx="594360" cy="594360"/>
          </a:xfrm>
          <a:prstGeom prst="ellipse">
            <a:avLst/>
          </a:prstGeom>
          <a:solidFill>
            <a:srgbClr val="2C6E8E"/>
          </a:solidFill>
          <a:ln/>
        </p:spPr>
      </p:sp>
      <p:pic>
        <p:nvPicPr>
          <p:cNvPr id="6" name="Image 0" descr="/home/claude/icon_network.png">    </p:cNvPr>
          <p:cNvPicPr>
            <a:picLocks noChangeAspect="1"/>
          </p:cNvPicPr>
          <p:nvPr/>
        </p:nvPicPr>
        <p:blipFill>
          <a:blip r:embed="rId1"/>
          <a:stretch>
            <a:fillRect/>
          </a:stretch>
        </p:blipFill>
        <p:spPr>
          <a:xfrm>
            <a:off x="1001268" y="2052828"/>
            <a:ext cx="329184" cy="329184"/>
          </a:xfrm>
          <a:prstGeom prst="rect">
            <a:avLst/>
          </a:prstGeom>
        </p:spPr>
      </p:pic>
      <p:sp>
        <p:nvSpPr>
          <p:cNvPr id="7" name="Text 4"/>
          <p:cNvSpPr txBox="1"/>
          <p:nvPr/>
        </p:nvSpPr>
        <p:spPr>
          <a:xfrm>
            <a:off x="868680" y="2606040"/>
            <a:ext cx="2971800" cy="502920"/>
          </a:xfrm>
          <a:prstGeom prst="rect">
            <a:avLst/>
          </a:prstGeom>
          <a:noFill/>
          <a:ln/>
        </p:spPr>
        <p:txBody>
          <a:bodyPr wrap="square" lIns="0" tIns="0" rIns="0" bIns="0" rtlCol="0" anchor="ctr"/>
          <a:lstStyle/>
          <a:p>
            <a:pPr indent="0" marL="0">
              <a:buNone/>
            </a:pPr>
            <a:r>
              <a:rPr lang="en-US" sz="1500" b="1" dirty="0">
                <a:solidFill>
                  <a:srgbClr val="122C56"/>
                </a:solidFill>
                <a:latin typeface="Calibri" pitchFamily="34" charset="0"/>
                <a:ea typeface="Calibri" pitchFamily="34" charset="-122"/>
                <a:cs typeface="Calibri" pitchFamily="34" charset="-120"/>
              </a:rPr>
              <a:t>Networking Fundamentals</a:t>
            </a:r>
            <a:endParaRPr lang="en-US" sz="1500" dirty="0"/>
          </a:p>
        </p:txBody>
      </p:sp>
      <p:sp>
        <p:nvSpPr>
          <p:cNvPr id="8" name="Text 5"/>
          <p:cNvSpPr txBox="1"/>
          <p:nvPr/>
        </p:nvSpPr>
        <p:spPr>
          <a:xfrm>
            <a:off x="868680" y="3063240"/>
            <a:ext cx="2971800" cy="685800"/>
          </a:xfrm>
          <a:prstGeom prst="rect">
            <a:avLst/>
          </a:prstGeom>
          <a:noFill/>
          <a:ln/>
        </p:spPr>
        <p:txBody>
          <a:bodyPr wrap="square" lIns="0" tIns="0" rIns="0" bIns="0" rtlCol="0" anchor="ctr"/>
          <a:lstStyle/>
          <a:p>
            <a:pPr indent="0" marL="0">
              <a:buNone/>
            </a:pPr>
            <a:r>
              <a:rPr lang="en-US" sz="1150" dirty="0">
                <a:solidFill>
                  <a:srgbClr val="5C6773"/>
                </a:solidFill>
                <a:latin typeface="Calibri" pitchFamily="34" charset="0"/>
                <a:ea typeface="Calibri" pitchFamily="34" charset="-122"/>
                <a:cs typeface="Calibri" pitchFamily="34" charset="-120"/>
              </a:rPr>
              <a:t>What a network is, and how devices exchange data end to end.</a:t>
            </a:r>
            <a:endParaRPr lang="en-US" sz="1150" dirty="0"/>
          </a:p>
        </p:txBody>
      </p:sp>
      <p:sp>
        <p:nvSpPr>
          <p:cNvPr id="9" name="Shape 6"/>
          <p:cNvSpPr/>
          <p:nvPr/>
        </p:nvSpPr>
        <p:spPr>
          <a:xfrm>
            <a:off x="4343400" y="1691640"/>
            <a:ext cx="3429000" cy="2148840"/>
          </a:xfrm>
          <a:prstGeom prst="roundRect">
            <a:avLst>
              <a:gd name="adj" fmla="val 4255"/>
            </a:avLst>
          </a:prstGeom>
          <a:solidFill>
            <a:srgbClr val="FFFFFF"/>
          </a:solidFill>
          <a:ln/>
          <a:effectLst>
            <a:outerShdw sx="100000" sy="100000" kx="0" ky="0" algn="bl" rotWithShape="0" blurRad="101600" dist="38100" dir="5400000">
              <a:srgbClr val="000000">
                <a:alpha val="12000"/>
              </a:srgbClr>
            </a:outerShdw>
          </a:effectLst>
        </p:spPr>
      </p:sp>
      <p:sp>
        <p:nvSpPr>
          <p:cNvPr id="10" name="Shape 7"/>
          <p:cNvSpPr/>
          <p:nvPr/>
        </p:nvSpPr>
        <p:spPr>
          <a:xfrm>
            <a:off x="4572000" y="1920240"/>
            <a:ext cx="594360" cy="594360"/>
          </a:xfrm>
          <a:prstGeom prst="ellipse">
            <a:avLst/>
          </a:prstGeom>
          <a:solidFill>
            <a:srgbClr val="8E1B3C"/>
          </a:solidFill>
          <a:ln/>
        </p:spPr>
      </p:sp>
      <p:pic>
        <p:nvPicPr>
          <p:cNvPr id="11" name="Image 1" descr="/home/claude/icon_layers.png">    </p:cNvPr>
          <p:cNvPicPr>
            <a:picLocks noChangeAspect="1"/>
          </p:cNvPicPr>
          <p:nvPr/>
        </p:nvPicPr>
        <p:blipFill>
          <a:blip r:embed="rId2"/>
          <a:stretch>
            <a:fillRect/>
          </a:stretch>
        </p:blipFill>
        <p:spPr>
          <a:xfrm>
            <a:off x="4704588" y="2052828"/>
            <a:ext cx="329184" cy="329184"/>
          </a:xfrm>
          <a:prstGeom prst="rect">
            <a:avLst/>
          </a:prstGeom>
        </p:spPr>
      </p:pic>
      <p:sp>
        <p:nvSpPr>
          <p:cNvPr id="12" name="Text 8"/>
          <p:cNvSpPr txBox="1"/>
          <p:nvPr/>
        </p:nvSpPr>
        <p:spPr>
          <a:xfrm>
            <a:off x="4572000" y="2606040"/>
            <a:ext cx="2971800" cy="502920"/>
          </a:xfrm>
          <a:prstGeom prst="rect">
            <a:avLst/>
          </a:prstGeom>
          <a:noFill/>
          <a:ln/>
        </p:spPr>
        <p:txBody>
          <a:bodyPr wrap="square" lIns="0" tIns="0" rIns="0" bIns="0" rtlCol="0" anchor="ctr"/>
          <a:lstStyle/>
          <a:p>
            <a:pPr indent="0" marL="0">
              <a:buNone/>
            </a:pPr>
            <a:r>
              <a:rPr lang="en-US" sz="1500" b="1" dirty="0">
                <a:solidFill>
                  <a:srgbClr val="122C56"/>
                </a:solidFill>
                <a:latin typeface="Calibri" pitchFamily="34" charset="0"/>
                <a:ea typeface="Calibri" pitchFamily="34" charset="-122"/>
                <a:cs typeface="Calibri" pitchFamily="34" charset="-120"/>
              </a:rPr>
              <a:t>OSI &amp; TCP/IP Models</a:t>
            </a:r>
            <a:endParaRPr lang="en-US" sz="1500" dirty="0"/>
          </a:p>
        </p:txBody>
      </p:sp>
      <p:sp>
        <p:nvSpPr>
          <p:cNvPr id="13" name="Text 9"/>
          <p:cNvSpPr txBox="1"/>
          <p:nvPr/>
        </p:nvSpPr>
        <p:spPr>
          <a:xfrm>
            <a:off x="4572000" y="3063240"/>
            <a:ext cx="2971800" cy="685800"/>
          </a:xfrm>
          <a:prstGeom prst="rect">
            <a:avLst/>
          </a:prstGeom>
          <a:noFill/>
          <a:ln/>
        </p:spPr>
        <p:txBody>
          <a:bodyPr wrap="square" lIns="0" tIns="0" rIns="0" bIns="0" rtlCol="0" anchor="ctr"/>
          <a:lstStyle/>
          <a:p>
            <a:pPr indent="0" marL="0">
              <a:buNone/>
            </a:pPr>
            <a:r>
              <a:rPr lang="en-US" sz="1150" dirty="0">
                <a:solidFill>
                  <a:srgbClr val="5C6773"/>
                </a:solidFill>
                <a:latin typeface="Calibri" pitchFamily="34" charset="0"/>
                <a:ea typeface="Calibri" pitchFamily="34" charset="-122"/>
                <a:cs typeface="Calibri" pitchFamily="34" charset="-120"/>
              </a:rPr>
              <a:t>The layered models that describe how communication is structured.</a:t>
            </a:r>
            <a:endParaRPr lang="en-US" sz="1150" dirty="0"/>
          </a:p>
        </p:txBody>
      </p:sp>
      <p:sp>
        <p:nvSpPr>
          <p:cNvPr id="14" name="Shape 10"/>
          <p:cNvSpPr/>
          <p:nvPr/>
        </p:nvSpPr>
        <p:spPr>
          <a:xfrm>
            <a:off x="8046720" y="1691640"/>
            <a:ext cx="3429000" cy="2148840"/>
          </a:xfrm>
          <a:prstGeom prst="roundRect">
            <a:avLst>
              <a:gd name="adj" fmla="val 4255"/>
            </a:avLst>
          </a:prstGeom>
          <a:solidFill>
            <a:srgbClr val="FFFFFF"/>
          </a:solidFill>
          <a:ln/>
          <a:effectLst>
            <a:outerShdw sx="100000" sy="100000" kx="0" ky="0" algn="bl" rotWithShape="0" blurRad="101600" dist="38100" dir="5400000">
              <a:srgbClr val="000000">
                <a:alpha val="12000"/>
              </a:srgbClr>
            </a:outerShdw>
          </a:effectLst>
        </p:spPr>
      </p:sp>
      <p:sp>
        <p:nvSpPr>
          <p:cNvPr id="15" name="Shape 11"/>
          <p:cNvSpPr/>
          <p:nvPr/>
        </p:nvSpPr>
        <p:spPr>
          <a:xfrm>
            <a:off x="8275320" y="1920240"/>
            <a:ext cx="594360" cy="594360"/>
          </a:xfrm>
          <a:prstGeom prst="ellipse">
            <a:avLst/>
          </a:prstGeom>
          <a:solidFill>
            <a:srgbClr val="122C56"/>
          </a:solidFill>
          <a:ln/>
        </p:spPr>
      </p:sp>
      <p:pic>
        <p:nvPicPr>
          <p:cNvPr id="16" name="Image 2" descr="/home/claude/icon_sitemap.png">    </p:cNvPr>
          <p:cNvPicPr>
            <a:picLocks noChangeAspect="1"/>
          </p:cNvPicPr>
          <p:nvPr/>
        </p:nvPicPr>
        <p:blipFill>
          <a:blip r:embed="rId3"/>
          <a:stretch>
            <a:fillRect/>
          </a:stretch>
        </p:blipFill>
        <p:spPr>
          <a:xfrm>
            <a:off x="8407908" y="2052828"/>
            <a:ext cx="329184" cy="329184"/>
          </a:xfrm>
          <a:prstGeom prst="rect">
            <a:avLst/>
          </a:prstGeom>
        </p:spPr>
      </p:pic>
      <p:sp>
        <p:nvSpPr>
          <p:cNvPr id="17" name="Text 12"/>
          <p:cNvSpPr txBox="1"/>
          <p:nvPr/>
        </p:nvSpPr>
        <p:spPr>
          <a:xfrm>
            <a:off x="8275320" y="2606040"/>
            <a:ext cx="2971800" cy="502920"/>
          </a:xfrm>
          <a:prstGeom prst="rect">
            <a:avLst/>
          </a:prstGeom>
          <a:noFill/>
          <a:ln/>
        </p:spPr>
        <p:txBody>
          <a:bodyPr wrap="square" lIns="0" tIns="0" rIns="0" bIns="0" rtlCol="0" anchor="ctr"/>
          <a:lstStyle/>
          <a:p>
            <a:pPr indent="0" marL="0">
              <a:buNone/>
            </a:pPr>
            <a:r>
              <a:rPr lang="en-US" sz="1500" b="1" dirty="0">
                <a:solidFill>
                  <a:srgbClr val="122C56"/>
                </a:solidFill>
                <a:latin typeface="Calibri" pitchFamily="34" charset="0"/>
                <a:ea typeface="Calibri" pitchFamily="34" charset="-122"/>
                <a:cs typeface="Calibri" pitchFamily="34" charset="-120"/>
              </a:rPr>
              <a:t>IP Addressing &amp; Subnetting</a:t>
            </a:r>
            <a:endParaRPr lang="en-US" sz="1500" dirty="0"/>
          </a:p>
        </p:txBody>
      </p:sp>
      <p:sp>
        <p:nvSpPr>
          <p:cNvPr id="18" name="Text 13"/>
          <p:cNvSpPr txBox="1"/>
          <p:nvPr/>
        </p:nvSpPr>
        <p:spPr>
          <a:xfrm>
            <a:off x="8275320" y="3063240"/>
            <a:ext cx="2971800" cy="685800"/>
          </a:xfrm>
          <a:prstGeom prst="rect">
            <a:avLst/>
          </a:prstGeom>
          <a:noFill/>
          <a:ln/>
        </p:spPr>
        <p:txBody>
          <a:bodyPr wrap="square" lIns="0" tIns="0" rIns="0" bIns="0" rtlCol="0" anchor="ctr"/>
          <a:lstStyle/>
          <a:p>
            <a:pPr indent="0" marL="0">
              <a:buNone/>
            </a:pPr>
            <a:r>
              <a:rPr lang="en-US" sz="1150" dirty="0">
                <a:solidFill>
                  <a:srgbClr val="5C6773"/>
                </a:solidFill>
                <a:latin typeface="Calibri" pitchFamily="34" charset="0"/>
                <a:ea typeface="Calibri" pitchFamily="34" charset="-122"/>
                <a:cs typeface="Calibri" pitchFamily="34" charset="-120"/>
              </a:rPr>
              <a:t>IPv4/IPv6 addressing, subnet masks, and basic subnetting logic.</a:t>
            </a:r>
            <a:endParaRPr lang="en-US" sz="1150" dirty="0"/>
          </a:p>
        </p:txBody>
      </p:sp>
      <p:sp>
        <p:nvSpPr>
          <p:cNvPr id="19" name="Shape 14"/>
          <p:cNvSpPr/>
          <p:nvPr/>
        </p:nvSpPr>
        <p:spPr>
          <a:xfrm>
            <a:off x="640080" y="4114800"/>
            <a:ext cx="3429000" cy="2148840"/>
          </a:xfrm>
          <a:prstGeom prst="roundRect">
            <a:avLst>
              <a:gd name="adj" fmla="val 4255"/>
            </a:avLst>
          </a:prstGeom>
          <a:solidFill>
            <a:srgbClr val="FFFFFF"/>
          </a:solidFill>
          <a:ln/>
          <a:effectLst>
            <a:outerShdw sx="100000" sy="100000" kx="0" ky="0" algn="bl" rotWithShape="0" blurRad="101600" dist="38100" dir="5400000">
              <a:srgbClr val="000000">
                <a:alpha val="12000"/>
              </a:srgbClr>
            </a:outerShdw>
          </a:effectLst>
        </p:spPr>
      </p:sp>
      <p:sp>
        <p:nvSpPr>
          <p:cNvPr id="20" name="Shape 15"/>
          <p:cNvSpPr/>
          <p:nvPr/>
        </p:nvSpPr>
        <p:spPr>
          <a:xfrm>
            <a:off x="868680" y="4343400"/>
            <a:ext cx="594360" cy="594360"/>
          </a:xfrm>
          <a:prstGeom prst="ellipse">
            <a:avLst/>
          </a:prstGeom>
          <a:solidFill>
            <a:srgbClr val="2C6E8E"/>
          </a:solidFill>
          <a:ln/>
        </p:spPr>
      </p:sp>
      <p:pic>
        <p:nvPicPr>
          <p:cNvPr id="21" name="Image 3" descr="/home/claude/icon_server.png">    </p:cNvPr>
          <p:cNvPicPr>
            <a:picLocks noChangeAspect="1"/>
          </p:cNvPicPr>
          <p:nvPr/>
        </p:nvPicPr>
        <p:blipFill>
          <a:blip r:embed="rId4"/>
          <a:stretch>
            <a:fillRect/>
          </a:stretch>
        </p:blipFill>
        <p:spPr>
          <a:xfrm>
            <a:off x="1001268" y="4475988"/>
            <a:ext cx="329184" cy="329184"/>
          </a:xfrm>
          <a:prstGeom prst="rect">
            <a:avLst/>
          </a:prstGeom>
        </p:spPr>
      </p:pic>
      <p:sp>
        <p:nvSpPr>
          <p:cNvPr id="22" name="Text 16"/>
          <p:cNvSpPr txBox="1"/>
          <p:nvPr/>
        </p:nvSpPr>
        <p:spPr>
          <a:xfrm>
            <a:off x="868680" y="5029200"/>
            <a:ext cx="2971800" cy="502920"/>
          </a:xfrm>
          <a:prstGeom prst="rect">
            <a:avLst/>
          </a:prstGeom>
          <a:noFill/>
          <a:ln/>
        </p:spPr>
        <p:txBody>
          <a:bodyPr wrap="square" lIns="0" tIns="0" rIns="0" bIns="0" rtlCol="0" anchor="ctr"/>
          <a:lstStyle/>
          <a:p>
            <a:pPr indent="0" marL="0">
              <a:buNone/>
            </a:pPr>
            <a:r>
              <a:rPr lang="en-US" sz="1500" b="1" dirty="0">
                <a:solidFill>
                  <a:srgbClr val="122C56"/>
                </a:solidFill>
                <a:latin typeface="Calibri" pitchFamily="34" charset="0"/>
                <a:ea typeface="Calibri" pitchFamily="34" charset="-122"/>
                <a:cs typeface="Calibri" pitchFamily="34" charset="-120"/>
              </a:rPr>
              <a:t>Devices &amp; Topologies</a:t>
            </a:r>
            <a:endParaRPr lang="en-US" sz="1500" dirty="0"/>
          </a:p>
        </p:txBody>
      </p:sp>
      <p:sp>
        <p:nvSpPr>
          <p:cNvPr id="23" name="Text 17"/>
          <p:cNvSpPr txBox="1"/>
          <p:nvPr/>
        </p:nvSpPr>
        <p:spPr>
          <a:xfrm>
            <a:off x="868680" y="5486400"/>
            <a:ext cx="2971800" cy="685800"/>
          </a:xfrm>
          <a:prstGeom prst="rect">
            <a:avLst/>
          </a:prstGeom>
          <a:noFill/>
          <a:ln/>
        </p:spPr>
        <p:txBody>
          <a:bodyPr wrap="square" lIns="0" tIns="0" rIns="0" bIns="0" rtlCol="0" anchor="ctr"/>
          <a:lstStyle/>
          <a:p>
            <a:pPr indent="0" marL="0">
              <a:buNone/>
            </a:pPr>
            <a:r>
              <a:rPr lang="en-US" sz="1150" dirty="0">
                <a:solidFill>
                  <a:srgbClr val="5C6773"/>
                </a:solidFill>
                <a:latin typeface="Calibri" pitchFamily="34" charset="0"/>
                <a:ea typeface="Calibri" pitchFamily="34" charset="-122"/>
                <a:cs typeface="Calibri" pitchFamily="34" charset="-120"/>
              </a:rPr>
              <a:t>Routers, switches, hubs, and common physical/logical layouts.</a:t>
            </a:r>
            <a:endParaRPr lang="en-US" sz="1150" dirty="0"/>
          </a:p>
        </p:txBody>
      </p:sp>
      <p:sp>
        <p:nvSpPr>
          <p:cNvPr id="24" name="Shape 18"/>
          <p:cNvSpPr/>
          <p:nvPr/>
        </p:nvSpPr>
        <p:spPr>
          <a:xfrm>
            <a:off x="4343400" y="4114800"/>
            <a:ext cx="3429000" cy="2148840"/>
          </a:xfrm>
          <a:prstGeom prst="roundRect">
            <a:avLst>
              <a:gd name="adj" fmla="val 4255"/>
            </a:avLst>
          </a:prstGeom>
          <a:solidFill>
            <a:srgbClr val="FFFFFF"/>
          </a:solidFill>
          <a:ln/>
          <a:effectLst>
            <a:outerShdw sx="100000" sy="100000" kx="0" ky="0" algn="bl" rotWithShape="0" blurRad="101600" dist="38100" dir="5400000">
              <a:srgbClr val="000000">
                <a:alpha val="12000"/>
              </a:srgbClr>
            </a:outerShdw>
          </a:effectLst>
        </p:spPr>
      </p:sp>
      <p:sp>
        <p:nvSpPr>
          <p:cNvPr id="25" name="Shape 19"/>
          <p:cNvSpPr/>
          <p:nvPr/>
        </p:nvSpPr>
        <p:spPr>
          <a:xfrm>
            <a:off x="4572000" y="4343400"/>
            <a:ext cx="594360" cy="594360"/>
          </a:xfrm>
          <a:prstGeom prst="ellipse">
            <a:avLst/>
          </a:prstGeom>
          <a:solidFill>
            <a:srgbClr val="8E1B3C"/>
          </a:solidFill>
          <a:ln/>
        </p:spPr>
      </p:sp>
      <p:pic>
        <p:nvPicPr>
          <p:cNvPr id="26" name="Image 4" descr="/home/claude/icon_exchange.png">    </p:cNvPr>
          <p:cNvPicPr>
            <a:picLocks noChangeAspect="1"/>
          </p:cNvPicPr>
          <p:nvPr/>
        </p:nvPicPr>
        <p:blipFill>
          <a:blip r:embed="rId5"/>
          <a:stretch>
            <a:fillRect/>
          </a:stretch>
        </p:blipFill>
        <p:spPr>
          <a:xfrm>
            <a:off x="4704588" y="4475988"/>
            <a:ext cx="329184" cy="329184"/>
          </a:xfrm>
          <a:prstGeom prst="rect">
            <a:avLst/>
          </a:prstGeom>
        </p:spPr>
      </p:pic>
      <p:sp>
        <p:nvSpPr>
          <p:cNvPr id="27" name="Text 20"/>
          <p:cNvSpPr txBox="1"/>
          <p:nvPr/>
        </p:nvSpPr>
        <p:spPr>
          <a:xfrm>
            <a:off x="4572000" y="5029200"/>
            <a:ext cx="2971800" cy="502920"/>
          </a:xfrm>
          <a:prstGeom prst="rect">
            <a:avLst/>
          </a:prstGeom>
          <a:noFill/>
          <a:ln/>
        </p:spPr>
        <p:txBody>
          <a:bodyPr wrap="square" lIns="0" tIns="0" rIns="0" bIns="0" rtlCol="0" anchor="ctr"/>
          <a:lstStyle/>
          <a:p>
            <a:pPr indent="0" marL="0">
              <a:buNone/>
            </a:pPr>
            <a:r>
              <a:rPr lang="en-US" sz="1500" b="1" dirty="0">
                <a:solidFill>
                  <a:srgbClr val="122C56"/>
                </a:solidFill>
                <a:latin typeface="Calibri" pitchFamily="34" charset="0"/>
                <a:ea typeface="Calibri" pitchFamily="34" charset="-122"/>
                <a:cs typeface="Calibri" pitchFamily="34" charset="-120"/>
              </a:rPr>
              <a:t>Protocols &amp; Standards</a:t>
            </a:r>
            <a:endParaRPr lang="en-US" sz="1500" dirty="0"/>
          </a:p>
        </p:txBody>
      </p:sp>
      <p:sp>
        <p:nvSpPr>
          <p:cNvPr id="28" name="Text 21"/>
          <p:cNvSpPr txBox="1"/>
          <p:nvPr/>
        </p:nvSpPr>
        <p:spPr>
          <a:xfrm>
            <a:off x="4572000" y="5486400"/>
            <a:ext cx="2971800" cy="685800"/>
          </a:xfrm>
          <a:prstGeom prst="rect">
            <a:avLst/>
          </a:prstGeom>
          <a:noFill/>
          <a:ln/>
        </p:spPr>
        <p:txBody>
          <a:bodyPr wrap="square" lIns="0" tIns="0" rIns="0" bIns="0" rtlCol="0" anchor="ctr"/>
          <a:lstStyle/>
          <a:p>
            <a:pPr indent="0" marL="0">
              <a:buNone/>
            </a:pPr>
            <a:r>
              <a:rPr lang="en-US" sz="1150" dirty="0">
                <a:solidFill>
                  <a:srgbClr val="5C6773"/>
                </a:solidFill>
                <a:latin typeface="Calibri" pitchFamily="34" charset="0"/>
                <a:ea typeface="Calibri" pitchFamily="34" charset="-122"/>
                <a:cs typeface="Calibri" pitchFamily="34" charset="-120"/>
              </a:rPr>
              <a:t>How TCP/IP, HTTP, and other protocols govern data exchange.</a:t>
            </a:r>
            <a:endParaRPr lang="en-US" sz="1150" dirty="0"/>
          </a:p>
        </p:txBody>
      </p:sp>
      <p:sp>
        <p:nvSpPr>
          <p:cNvPr id="29" name="Shape 22"/>
          <p:cNvSpPr/>
          <p:nvPr/>
        </p:nvSpPr>
        <p:spPr>
          <a:xfrm>
            <a:off x="8046720" y="4114800"/>
            <a:ext cx="3429000" cy="2148840"/>
          </a:xfrm>
          <a:prstGeom prst="roundRect">
            <a:avLst>
              <a:gd name="adj" fmla="val 4255"/>
            </a:avLst>
          </a:prstGeom>
          <a:solidFill>
            <a:srgbClr val="FFFFFF"/>
          </a:solidFill>
          <a:ln/>
          <a:effectLst>
            <a:outerShdw sx="100000" sy="100000" kx="0" ky="0" algn="bl" rotWithShape="0" blurRad="101600" dist="38100" dir="5400000">
              <a:srgbClr val="000000">
                <a:alpha val="12000"/>
              </a:srgbClr>
            </a:outerShdw>
          </a:effectLst>
        </p:spPr>
      </p:sp>
      <p:sp>
        <p:nvSpPr>
          <p:cNvPr id="30" name="Shape 23"/>
          <p:cNvSpPr/>
          <p:nvPr/>
        </p:nvSpPr>
        <p:spPr>
          <a:xfrm>
            <a:off x="8275320" y="4343400"/>
            <a:ext cx="594360" cy="594360"/>
          </a:xfrm>
          <a:prstGeom prst="ellipse">
            <a:avLst/>
          </a:prstGeom>
          <a:solidFill>
            <a:srgbClr val="122C56"/>
          </a:solidFill>
          <a:ln/>
        </p:spPr>
      </p:sp>
      <p:pic>
        <p:nvPicPr>
          <p:cNvPr id="31" name="Image 5" descr="/home/claude/icon_shield.png">    </p:cNvPr>
          <p:cNvPicPr>
            <a:picLocks noChangeAspect="1"/>
          </p:cNvPicPr>
          <p:nvPr/>
        </p:nvPicPr>
        <p:blipFill>
          <a:blip r:embed="rId6"/>
          <a:stretch>
            <a:fillRect/>
          </a:stretch>
        </p:blipFill>
        <p:spPr>
          <a:xfrm>
            <a:off x="8407908" y="4475988"/>
            <a:ext cx="329184" cy="329184"/>
          </a:xfrm>
          <a:prstGeom prst="rect">
            <a:avLst/>
          </a:prstGeom>
        </p:spPr>
      </p:pic>
      <p:sp>
        <p:nvSpPr>
          <p:cNvPr id="32" name="Text 24"/>
          <p:cNvSpPr txBox="1"/>
          <p:nvPr/>
        </p:nvSpPr>
        <p:spPr>
          <a:xfrm>
            <a:off x="8275320" y="5029200"/>
            <a:ext cx="2971800" cy="502920"/>
          </a:xfrm>
          <a:prstGeom prst="rect">
            <a:avLst/>
          </a:prstGeom>
          <a:noFill/>
          <a:ln/>
        </p:spPr>
        <p:txBody>
          <a:bodyPr wrap="square" lIns="0" tIns="0" rIns="0" bIns="0" rtlCol="0" anchor="ctr"/>
          <a:lstStyle/>
          <a:p>
            <a:pPr indent="0" marL="0">
              <a:buNone/>
            </a:pPr>
            <a:r>
              <a:rPr lang="en-US" sz="1500" b="1" dirty="0">
                <a:solidFill>
                  <a:srgbClr val="122C56"/>
                </a:solidFill>
                <a:latin typeface="Calibri" pitchFamily="34" charset="0"/>
                <a:ea typeface="Calibri" pitchFamily="34" charset="-122"/>
                <a:cs typeface="Calibri" pitchFamily="34" charset="-120"/>
              </a:rPr>
              <a:t>Network Security Basics</a:t>
            </a:r>
            <a:endParaRPr lang="en-US" sz="1500" dirty="0"/>
          </a:p>
        </p:txBody>
      </p:sp>
      <p:sp>
        <p:nvSpPr>
          <p:cNvPr id="33" name="Text 25"/>
          <p:cNvSpPr txBox="1"/>
          <p:nvPr/>
        </p:nvSpPr>
        <p:spPr>
          <a:xfrm>
            <a:off x="8275320" y="5486400"/>
            <a:ext cx="2971800" cy="685800"/>
          </a:xfrm>
          <a:prstGeom prst="rect">
            <a:avLst/>
          </a:prstGeom>
          <a:noFill/>
          <a:ln/>
        </p:spPr>
        <p:txBody>
          <a:bodyPr wrap="square" lIns="0" tIns="0" rIns="0" bIns="0" rtlCol="0" anchor="ctr"/>
          <a:lstStyle/>
          <a:p>
            <a:pPr indent="0" marL="0">
              <a:buNone/>
            </a:pPr>
            <a:r>
              <a:rPr lang="en-US" sz="1150" dirty="0">
                <a:solidFill>
                  <a:srgbClr val="5C6773"/>
                </a:solidFill>
                <a:latin typeface="Calibri" pitchFamily="34" charset="0"/>
                <a:ea typeface="Calibri" pitchFamily="34" charset="-122"/>
                <a:cs typeface="Calibri" pitchFamily="34" charset="-120"/>
              </a:rPr>
              <a:t>Core threats and the basic safeguards used to defend a network.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C56"/>
        </a:solidFill>
      </p:bgPr>
    </p:bg>
    <p:spTree>
      <p:nvGrpSpPr>
        <p:cNvPr id="1" name=""/>
        <p:cNvGrpSpPr/>
        <p:nvPr/>
      </p:nvGrpSpPr>
      <p:grpSpPr>
        <a:xfrm>
          <a:off x="0" y="0"/>
          <a:ext cx="0" cy="0"/>
          <a:chOff x="0" y="0"/>
          <a:chExt cx="0" cy="0"/>
        </a:xfrm>
      </p:grpSpPr>
      <p:sp>
        <p:nvSpPr>
          <p:cNvPr id="2" name="Shape 0"/>
          <p:cNvSpPr/>
          <p:nvPr/>
        </p:nvSpPr>
        <p:spPr>
          <a:xfrm>
            <a:off x="10332720" y="4389120"/>
            <a:ext cx="4114800" cy="4114800"/>
          </a:xfrm>
          <a:prstGeom prst="ellipse">
            <a:avLst/>
          </a:prstGeom>
          <a:solidFill>
            <a:srgbClr val="0C1F3D"/>
          </a:solidFill>
          <a:ln/>
        </p:spPr>
      </p:sp>
      <p:sp>
        <p:nvSpPr>
          <p:cNvPr id="3" name="Text 1"/>
          <p:cNvSpPr txBox="1"/>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Skills Gained</a:t>
            </a:r>
            <a:endParaRPr lang="en-US" sz="3200" dirty="0"/>
          </a:p>
        </p:txBody>
      </p:sp>
      <p:sp>
        <p:nvSpPr>
          <p:cNvPr id="4" name="Text 2"/>
          <p:cNvSpPr txBox="1"/>
          <p:nvPr/>
        </p:nvSpPr>
        <p:spPr>
          <a:xfrm>
            <a:off x="640080" y="1097280"/>
            <a:ext cx="9144000" cy="365760"/>
          </a:xfrm>
          <a:prstGeom prst="rect">
            <a:avLst/>
          </a:prstGeom>
          <a:noFill/>
          <a:ln/>
        </p:spPr>
        <p:txBody>
          <a:bodyPr wrap="square" lIns="0" tIns="0" rIns="0" bIns="0" rtlCol="0" anchor="ctr"/>
          <a:lstStyle/>
          <a:p>
            <a:pPr indent="0" marL="0">
              <a:buNone/>
            </a:pPr>
            <a:r>
              <a:rPr lang="en-US" sz="1500" i="1" dirty="0">
                <a:solidFill>
                  <a:srgbClr val="D7E4EE"/>
                </a:solidFill>
                <a:latin typeface="Calibri" pitchFamily="34" charset="0"/>
                <a:ea typeface="Calibri" pitchFamily="34" charset="-122"/>
                <a:cs typeface="Calibri" pitchFamily="34" charset="-120"/>
              </a:rPr>
              <a:t>Practical takeaways from completing the course</a:t>
            </a:r>
            <a:endParaRPr lang="en-US" sz="1500" dirty="0"/>
          </a:p>
        </p:txBody>
      </p:sp>
      <p:sp>
        <p:nvSpPr>
          <p:cNvPr id="5" name="Shape 3"/>
          <p:cNvSpPr/>
          <p:nvPr/>
        </p:nvSpPr>
        <p:spPr>
          <a:xfrm>
            <a:off x="640080" y="1874520"/>
            <a:ext cx="10881360" cy="960120"/>
          </a:xfrm>
          <a:prstGeom prst="roundRect">
            <a:avLst>
              <a:gd name="adj" fmla="val 7619"/>
            </a:avLst>
          </a:prstGeom>
          <a:solidFill>
            <a:srgbClr val="FFFFFF">
              <a:alpha val="8000"/>
            </a:srgbClr>
          </a:solidFill>
          <a:ln/>
        </p:spPr>
      </p:sp>
      <p:sp>
        <p:nvSpPr>
          <p:cNvPr id="6" name="Shape 4"/>
          <p:cNvSpPr/>
          <p:nvPr/>
        </p:nvSpPr>
        <p:spPr>
          <a:xfrm>
            <a:off x="914400" y="2057400"/>
            <a:ext cx="594360" cy="594360"/>
          </a:xfrm>
          <a:prstGeom prst="ellipse">
            <a:avLst/>
          </a:prstGeom>
          <a:solidFill>
            <a:srgbClr val="2C6E8E"/>
          </a:solidFill>
          <a:ln/>
        </p:spPr>
      </p:sp>
      <p:pic>
        <p:nvPicPr>
          <p:cNvPr id="7" name="Image 0" descr="/home/claude/icon_tools.png">    </p:cNvPr>
          <p:cNvPicPr>
            <a:picLocks noChangeAspect="1"/>
          </p:cNvPicPr>
          <p:nvPr/>
        </p:nvPicPr>
        <p:blipFill>
          <a:blip r:embed="rId1"/>
          <a:stretch>
            <a:fillRect/>
          </a:stretch>
        </p:blipFill>
        <p:spPr>
          <a:xfrm>
            <a:off x="1046988" y="2189988"/>
            <a:ext cx="329184" cy="329184"/>
          </a:xfrm>
          <a:prstGeom prst="rect">
            <a:avLst/>
          </a:prstGeom>
        </p:spPr>
      </p:pic>
      <p:sp>
        <p:nvSpPr>
          <p:cNvPr id="8" name="Text 5"/>
          <p:cNvSpPr txBox="1"/>
          <p:nvPr/>
        </p:nvSpPr>
        <p:spPr>
          <a:xfrm>
            <a:off x="1783080" y="1965960"/>
            <a:ext cx="4023360"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Basic Device Configuration</a:t>
            </a:r>
            <a:endParaRPr lang="en-US" sz="1600" dirty="0"/>
          </a:p>
        </p:txBody>
      </p:sp>
      <p:sp>
        <p:nvSpPr>
          <p:cNvPr id="9" name="Text 6"/>
          <p:cNvSpPr txBox="1"/>
          <p:nvPr/>
        </p:nvSpPr>
        <p:spPr>
          <a:xfrm>
            <a:off x="5943600" y="1965960"/>
            <a:ext cx="5394960" cy="777240"/>
          </a:xfrm>
          <a:prstGeom prst="rect">
            <a:avLst/>
          </a:prstGeom>
          <a:noFill/>
          <a:ln/>
        </p:spPr>
        <p:txBody>
          <a:bodyPr wrap="square" lIns="0" tIns="0" rIns="0" bIns="0" rtlCol="0" anchor="ctr"/>
          <a:lstStyle/>
          <a:p>
            <a:pPr indent="0" marL="0">
              <a:buNone/>
            </a:pPr>
            <a:r>
              <a:rPr lang="en-US" sz="1300" dirty="0">
                <a:solidFill>
                  <a:srgbClr val="D7E4EE"/>
                </a:solidFill>
                <a:latin typeface="Calibri" pitchFamily="34" charset="0"/>
                <a:ea typeface="Calibri" pitchFamily="34" charset="-122"/>
                <a:cs typeface="Calibri" pitchFamily="34" charset="-120"/>
              </a:rPr>
              <a:t>Comfortable navigating how routers and switches are set up conceptually.</a:t>
            </a:r>
            <a:endParaRPr lang="en-US" sz="1300" dirty="0"/>
          </a:p>
        </p:txBody>
      </p:sp>
      <p:sp>
        <p:nvSpPr>
          <p:cNvPr id="10" name="Shape 7"/>
          <p:cNvSpPr/>
          <p:nvPr/>
        </p:nvSpPr>
        <p:spPr>
          <a:xfrm>
            <a:off x="640080" y="2990088"/>
            <a:ext cx="10881360" cy="960120"/>
          </a:xfrm>
          <a:prstGeom prst="roundRect">
            <a:avLst>
              <a:gd name="adj" fmla="val 7619"/>
            </a:avLst>
          </a:prstGeom>
          <a:solidFill>
            <a:srgbClr val="FFFFFF">
              <a:alpha val="8000"/>
            </a:srgbClr>
          </a:solidFill>
          <a:ln/>
        </p:spPr>
      </p:sp>
      <p:sp>
        <p:nvSpPr>
          <p:cNvPr id="11" name="Shape 8"/>
          <p:cNvSpPr/>
          <p:nvPr/>
        </p:nvSpPr>
        <p:spPr>
          <a:xfrm>
            <a:off x="914400" y="3172968"/>
            <a:ext cx="594360" cy="594360"/>
          </a:xfrm>
          <a:prstGeom prst="ellipse">
            <a:avLst/>
          </a:prstGeom>
          <a:solidFill>
            <a:srgbClr val="2C6E8E"/>
          </a:solidFill>
          <a:ln/>
        </p:spPr>
      </p:sp>
      <p:pic>
        <p:nvPicPr>
          <p:cNvPr id="12" name="Image 1" descr="/home/claude/icon_search.png">    </p:cNvPr>
          <p:cNvPicPr>
            <a:picLocks noChangeAspect="1"/>
          </p:cNvPicPr>
          <p:nvPr/>
        </p:nvPicPr>
        <p:blipFill>
          <a:blip r:embed="rId2"/>
          <a:stretch>
            <a:fillRect/>
          </a:stretch>
        </p:blipFill>
        <p:spPr>
          <a:xfrm>
            <a:off x="1046988" y="3305556"/>
            <a:ext cx="329184" cy="329184"/>
          </a:xfrm>
          <a:prstGeom prst="rect">
            <a:avLst/>
          </a:prstGeom>
        </p:spPr>
      </p:pic>
      <p:sp>
        <p:nvSpPr>
          <p:cNvPr id="13" name="Text 9"/>
          <p:cNvSpPr txBox="1"/>
          <p:nvPr/>
        </p:nvSpPr>
        <p:spPr>
          <a:xfrm>
            <a:off x="1783080" y="3081528"/>
            <a:ext cx="4023360"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Troubleshooting Mindset</a:t>
            </a:r>
            <a:endParaRPr lang="en-US" sz="1600" dirty="0"/>
          </a:p>
        </p:txBody>
      </p:sp>
      <p:sp>
        <p:nvSpPr>
          <p:cNvPr id="14" name="Text 10"/>
          <p:cNvSpPr txBox="1"/>
          <p:nvPr/>
        </p:nvSpPr>
        <p:spPr>
          <a:xfrm>
            <a:off x="5943600" y="3081528"/>
            <a:ext cx="5394960" cy="777240"/>
          </a:xfrm>
          <a:prstGeom prst="rect">
            <a:avLst/>
          </a:prstGeom>
          <a:noFill/>
          <a:ln/>
        </p:spPr>
        <p:txBody>
          <a:bodyPr wrap="square" lIns="0" tIns="0" rIns="0" bIns="0" rtlCol="0" anchor="ctr"/>
          <a:lstStyle/>
          <a:p>
            <a:pPr indent="0" marL="0">
              <a:buNone/>
            </a:pPr>
            <a:r>
              <a:rPr lang="en-US" sz="1300" dirty="0">
                <a:solidFill>
                  <a:srgbClr val="D7E4EE"/>
                </a:solidFill>
                <a:latin typeface="Calibri" pitchFamily="34" charset="0"/>
                <a:ea typeface="Calibri" pitchFamily="34" charset="-122"/>
                <a:cs typeface="Calibri" pitchFamily="34" charset="-120"/>
              </a:rPr>
              <a:t>Able to reason through simple connectivity issues systematically.</a:t>
            </a:r>
            <a:endParaRPr lang="en-US" sz="1300" dirty="0"/>
          </a:p>
        </p:txBody>
      </p:sp>
      <p:sp>
        <p:nvSpPr>
          <p:cNvPr id="15" name="Shape 11"/>
          <p:cNvSpPr/>
          <p:nvPr/>
        </p:nvSpPr>
        <p:spPr>
          <a:xfrm>
            <a:off x="640080" y="4105656"/>
            <a:ext cx="10881360" cy="960120"/>
          </a:xfrm>
          <a:prstGeom prst="roundRect">
            <a:avLst>
              <a:gd name="adj" fmla="val 7619"/>
            </a:avLst>
          </a:prstGeom>
          <a:solidFill>
            <a:srgbClr val="FFFFFF">
              <a:alpha val="8000"/>
            </a:srgbClr>
          </a:solidFill>
          <a:ln/>
        </p:spPr>
      </p:sp>
      <p:sp>
        <p:nvSpPr>
          <p:cNvPr id="16" name="Shape 12"/>
          <p:cNvSpPr/>
          <p:nvPr/>
        </p:nvSpPr>
        <p:spPr>
          <a:xfrm>
            <a:off x="914400" y="4288536"/>
            <a:ext cx="594360" cy="594360"/>
          </a:xfrm>
          <a:prstGeom prst="ellipse">
            <a:avLst/>
          </a:prstGeom>
          <a:solidFill>
            <a:srgbClr val="2C6E8E"/>
          </a:solidFill>
          <a:ln/>
        </p:spPr>
      </p:sp>
      <p:pic>
        <p:nvPicPr>
          <p:cNvPr id="17" name="Image 2" descr="/home/claude/icon_exchange.png">    </p:cNvPr>
          <p:cNvPicPr>
            <a:picLocks noChangeAspect="1"/>
          </p:cNvPicPr>
          <p:nvPr/>
        </p:nvPicPr>
        <p:blipFill>
          <a:blip r:embed="rId3"/>
          <a:stretch>
            <a:fillRect/>
          </a:stretch>
        </p:blipFill>
        <p:spPr>
          <a:xfrm>
            <a:off x="1046988" y="4421124"/>
            <a:ext cx="329184" cy="329184"/>
          </a:xfrm>
          <a:prstGeom prst="rect">
            <a:avLst/>
          </a:prstGeom>
        </p:spPr>
      </p:pic>
      <p:sp>
        <p:nvSpPr>
          <p:cNvPr id="18" name="Text 13"/>
          <p:cNvSpPr txBox="1"/>
          <p:nvPr/>
        </p:nvSpPr>
        <p:spPr>
          <a:xfrm>
            <a:off x="1783080" y="4197096"/>
            <a:ext cx="4023360"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Understanding Data Flow</a:t>
            </a:r>
            <a:endParaRPr lang="en-US" sz="1600" dirty="0"/>
          </a:p>
        </p:txBody>
      </p:sp>
      <p:sp>
        <p:nvSpPr>
          <p:cNvPr id="19" name="Text 14"/>
          <p:cNvSpPr txBox="1"/>
          <p:nvPr/>
        </p:nvSpPr>
        <p:spPr>
          <a:xfrm>
            <a:off x="5943600" y="4197096"/>
            <a:ext cx="5394960" cy="777240"/>
          </a:xfrm>
          <a:prstGeom prst="rect">
            <a:avLst/>
          </a:prstGeom>
          <a:noFill/>
          <a:ln/>
        </p:spPr>
        <p:txBody>
          <a:bodyPr wrap="square" lIns="0" tIns="0" rIns="0" bIns="0" rtlCol="0" anchor="ctr"/>
          <a:lstStyle/>
          <a:p>
            <a:pPr indent="0" marL="0">
              <a:buNone/>
            </a:pPr>
            <a:r>
              <a:rPr lang="en-US" sz="1300" dirty="0">
                <a:solidFill>
                  <a:srgbClr val="D7E4EE"/>
                </a:solidFill>
                <a:latin typeface="Calibri" pitchFamily="34" charset="0"/>
                <a:ea typeface="Calibri" pitchFamily="34" charset="-122"/>
                <a:cs typeface="Calibri" pitchFamily="34" charset="-120"/>
              </a:rPr>
              <a:t>Clear picture of how data moves from source to destination across a network.</a:t>
            </a:r>
            <a:endParaRPr lang="en-US" sz="1300" dirty="0"/>
          </a:p>
        </p:txBody>
      </p:sp>
      <p:sp>
        <p:nvSpPr>
          <p:cNvPr id="20" name="Shape 15"/>
          <p:cNvSpPr/>
          <p:nvPr/>
        </p:nvSpPr>
        <p:spPr>
          <a:xfrm>
            <a:off x="640080" y="5221224"/>
            <a:ext cx="10881360" cy="960120"/>
          </a:xfrm>
          <a:prstGeom prst="roundRect">
            <a:avLst>
              <a:gd name="adj" fmla="val 7619"/>
            </a:avLst>
          </a:prstGeom>
          <a:solidFill>
            <a:srgbClr val="FFFFFF">
              <a:alpha val="8000"/>
            </a:srgbClr>
          </a:solidFill>
          <a:ln/>
        </p:spPr>
      </p:sp>
      <p:sp>
        <p:nvSpPr>
          <p:cNvPr id="21" name="Shape 16"/>
          <p:cNvSpPr/>
          <p:nvPr/>
        </p:nvSpPr>
        <p:spPr>
          <a:xfrm>
            <a:off x="914400" y="5404104"/>
            <a:ext cx="594360" cy="594360"/>
          </a:xfrm>
          <a:prstGeom prst="ellipse">
            <a:avLst/>
          </a:prstGeom>
          <a:solidFill>
            <a:srgbClr val="2C6E8E"/>
          </a:solidFill>
          <a:ln/>
        </p:spPr>
      </p:sp>
      <p:pic>
        <p:nvPicPr>
          <p:cNvPr id="22" name="Image 3" descr="/home/claude/icon_lock.png">    </p:cNvPr>
          <p:cNvPicPr>
            <a:picLocks noChangeAspect="1"/>
          </p:cNvPicPr>
          <p:nvPr/>
        </p:nvPicPr>
        <p:blipFill>
          <a:blip r:embed="rId4"/>
          <a:stretch>
            <a:fillRect/>
          </a:stretch>
        </p:blipFill>
        <p:spPr>
          <a:xfrm>
            <a:off x="1046988" y="5536692"/>
            <a:ext cx="329184" cy="329184"/>
          </a:xfrm>
          <a:prstGeom prst="rect">
            <a:avLst/>
          </a:prstGeom>
        </p:spPr>
      </p:pic>
      <p:sp>
        <p:nvSpPr>
          <p:cNvPr id="23" name="Text 17"/>
          <p:cNvSpPr txBox="1"/>
          <p:nvPr/>
        </p:nvSpPr>
        <p:spPr>
          <a:xfrm>
            <a:off x="1783080" y="5312664"/>
            <a:ext cx="4023360"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Security Awareness</a:t>
            </a:r>
            <a:endParaRPr lang="en-US" sz="1600" dirty="0"/>
          </a:p>
        </p:txBody>
      </p:sp>
      <p:sp>
        <p:nvSpPr>
          <p:cNvPr id="24" name="Text 18"/>
          <p:cNvSpPr txBox="1"/>
          <p:nvPr/>
        </p:nvSpPr>
        <p:spPr>
          <a:xfrm>
            <a:off x="5943600" y="5312664"/>
            <a:ext cx="5394960" cy="777240"/>
          </a:xfrm>
          <a:prstGeom prst="rect">
            <a:avLst/>
          </a:prstGeom>
          <a:noFill/>
          <a:ln/>
        </p:spPr>
        <p:txBody>
          <a:bodyPr wrap="square" lIns="0" tIns="0" rIns="0" bIns="0" rtlCol="0" anchor="ctr"/>
          <a:lstStyle/>
          <a:p>
            <a:pPr indent="0" marL="0">
              <a:buNone/>
            </a:pPr>
            <a:r>
              <a:rPr lang="en-US" sz="1300" dirty="0">
                <a:solidFill>
                  <a:srgbClr val="D7E4EE"/>
                </a:solidFill>
                <a:latin typeface="Calibri" pitchFamily="34" charset="0"/>
                <a:ea typeface="Calibri" pitchFamily="34" charset="-122"/>
                <a:cs typeface="Calibri" pitchFamily="34" charset="-120"/>
              </a:rPr>
              <a:t>Recognizing common risks and the basic practices used to reduce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640080"/>
          </a:xfrm>
          <a:prstGeom prst="rect">
            <a:avLst/>
          </a:prstGeom>
          <a:noFill/>
          <a:ln/>
        </p:spPr>
        <p:txBody>
          <a:bodyPr wrap="square" lIns="0" tIns="0" rIns="0" bIns="0" rtlCol="0" anchor="ctr"/>
          <a:lstStyle/>
          <a:p>
            <a:pPr indent="0" marL="0">
              <a:buNone/>
            </a:pPr>
            <a:r>
              <a:rPr lang="en-US" sz="3200" b="1" dirty="0">
                <a:solidFill>
                  <a:srgbClr val="122C56"/>
                </a:solidFill>
                <a:latin typeface="Cambria" pitchFamily="34" charset="0"/>
                <a:ea typeface="Cambria" pitchFamily="34" charset="-122"/>
                <a:cs typeface="Cambria" pitchFamily="34" charset="-120"/>
              </a:rPr>
              <a:t>Certificate of Completion</a:t>
            </a:r>
            <a:endParaRPr lang="en-US" sz="32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500" i="1" dirty="0">
                <a:solidFill>
                  <a:srgbClr val="5C6773"/>
                </a:solidFill>
                <a:latin typeface="Calibri" pitchFamily="34" charset="0"/>
                <a:ea typeface="Calibri" pitchFamily="34" charset="-122"/>
                <a:cs typeface="Calibri" pitchFamily="34" charset="-120"/>
              </a:rPr>
              <a:t>Awarded by Cisco Networking Academy on 30 August 2026</a:t>
            </a:r>
            <a:endParaRPr lang="en-US" sz="1500" dirty="0"/>
          </a:p>
        </p:txBody>
      </p:sp>
      <p:sp>
        <p:nvSpPr>
          <p:cNvPr id="4" name="Shape 2"/>
          <p:cNvSpPr/>
          <p:nvPr/>
        </p:nvSpPr>
        <p:spPr>
          <a:xfrm>
            <a:off x="2026768" y="1463040"/>
            <a:ext cx="8138160" cy="5600063"/>
          </a:xfrm>
          <a:prstGeom prst="roundRect">
            <a:avLst>
              <a:gd name="adj" fmla="val 980"/>
            </a:avLst>
          </a:prstGeom>
          <a:solidFill>
            <a:srgbClr val="FFFFFF"/>
          </a:solidFill>
          <a:ln w="19050">
            <a:solidFill>
              <a:srgbClr val="D7E4EE"/>
            </a:solidFill>
            <a:prstDash val="solid"/>
          </a:ln>
          <a:effectLst>
            <a:outerShdw sx="100000" sy="100000" kx="0" ky="0" algn="bl" rotWithShape="0" blurRad="177800" dist="50800" dir="5400000">
              <a:srgbClr val="000000">
                <a:alpha val="20000"/>
              </a:srgbClr>
            </a:outerShdw>
          </a:effectLst>
        </p:spPr>
      </p:sp>
      <p:pic>
        <p:nvPicPr>
          <p:cNvPr id="5" name="Image 0" descr="/home/claude/cert_img-1.jpg">    </p:cNvPr>
          <p:cNvPicPr>
            <a:picLocks noChangeAspect="1"/>
          </p:cNvPicPr>
          <p:nvPr/>
        </p:nvPicPr>
        <p:blipFill>
          <a:blip r:embed="rId1"/>
          <a:stretch>
            <a:fillRect/>
          </a:stretch>
        </p:blipFill>
        <p:spPr>
          <a:xfrm>
            <a:off x="2163928" y="1600200"/>
            <a:ext cx="7863840" cy="5325743"/>
          </a:xfrm>
          <a:prstGeom prst="rect">
            <a:avLst/>
          </a:prstGeom>
        </p:spPr>
      </p:pic>
      <p:sp>
        <p:nvSpPr>
          <p:cNvPr id="6" name="Text 3"/>
          <p:cNvSpPr txBox="1"/>
          <p:nvPr/>
        </p:nvSpPr>
        <p:spPr>
          <a:xfrm>
            <a:off x="640080" y="7181975"/>
            <a:ext cx="10881360" cy="320040"/>
          </a:xfrm>
          <a:prstGeom prst="rect">
            <a:avLst/>
          </a:prstGeom>
          <a:noFill/>
          <a:ln/>
        </p:spPr>
        <p:txBody>
          <a:bodyPr wrap="square" lIns="0" tIns="0" rIns="0" bIns="0" rtlCol="0" anchor="ctr"/>
          <a:lstStyle/>
          <a:p>
            <a:pPr algn="ctr" indent="0" marL="0">
              <a:buNone/>
            </a:pPr>
            <a:r>
              <a:rPr lang="en-US" sz="1100" dirty="0">
                <a:solidFill>
                  <a:srgbClr val="5C6773"/>
                </a:solidFill>
                <a:latin typeface="Calibri" pitchFamily="34" charset="0"/>
                <a:ea typeface="Calibri" pitchFamily="34" charset="-122"/>
                <a:cs typeface="Calibri" pitchFamily="34" charset="-120"/>
              </a:rPr>
              <a:t>Cert ID: 3cd82f60-b8f9-46f2-a95e-98360f309ecb</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C56"/>
        </a:solidFill>
      </p:bgPr>
    </p:bg>
    <p:spTree>
      <p:nvGrpSpPr>
        <p:cNvPr id="1" name=""/>
        <p:cNvGrpSpPr/>
        <p:nvPr/>
      </p:nvGrpSpPr>
      <p:grpSpPr>
        <a:xfrm>
          <a:off x="0" y="0"/>
          <a:ext cx="0" cy="0"/>
          <a:chOff x="0" y="0"/>
          <a:chExt cx="0" cy="0"/>
        </a:xfrm>
      </p:grpSpPr>
      <p:sp>
        <p:nvSpPr>
          <p:cNvPr id="2" name="Shape 0"/>
          <p:cNvSpPr/>
          <p:nvPr/>
        </p:nvSpPr>
        <p:spPr>
          <a:xfrm>
            <a:off x="-2560320" y="-2560320"/>
            <a:ext cx="5486400" cy="5486400"/>
          </a:xfrm>
          <a:prstGeom prst="ellipse">
            <a:avLst/>
          </a:prstGeom>
          <a:solidFill>
            <a:srgbClr val="0C1F3D"/>
          </a:solidFill>
          <a:ln/>
        </p:spPr>
      </p:sp>
      <p:sp>
        <p:nvSpPr>
          <p:cNvPr id="3" name="Shape 1"/>
          <p:cNvSpPr/>
          <p:nvPr/>
        </p:nvSpPr>
        <p:spPr>
          <a:xfrm>
            <a:off x="9875520" y="4114800"/>
            <a:ext cx="5029200" cy="5029200"/>
          </a:xfrm>
          <a:prstGeom prst="ellipse">
            <a:avLst/>
          </a:prstGeom>
          <a:solidFill>
            <a:srgbClr val="2C6E8E">
              <a:alpha val="25000"/>
            </a:srgbClr>
          </a:solidFill>
          <a:ln/>
        </p:spPr>
      </p:sp>
      <p:pic>
        <p:nvPicPr>
          <p:cNvPr id="4" name="Image 0" descr="/home/claude/icon_quote.png">    </p:cNvPr>
          <p:cNvPicPr>
            <a:picLocks noChangeAspect="1"/>
          </p:cNvPicPr>
          <p:nvPr/>
        </p:nvPicPr>
        <p:blipFill>
          <a:blip r:embed="rId1"/>
          <a:stretch>
            <a:fillRect/>
          </a:stretch>
        </p:blipFill>
        <p:spPr>
          <a:xfrm>
            <a:off x="5394960" y="1234440"/>
            <a:ext cx="1371600" cy="1371600"/>
          </a:xfrm>
          <a:prstGeom prst="rect">
            <a:avLst/>
          </a:prstGeom>
        </p:spPr>
      </p:pic>
      <p:sp>
        <p:nvSpPr>
          <p:cNvPr id="5" name="Text 2"/>
          <p:cNvSpPr txBox="1"/>
          <p:nvPr/>
        </p:nvSpPr>
        <p:spPr>
          <a:xfrm>
            <a:off x="1828800" y="2743200"/>
            <a:ext cx="8503920" cy="1463040"/>
          </a:xfrm>
          <a:prstGeom prst="rect">
            <a:avLst/>
          </a:prstGeom>
          <a:noFill/>
          <a:ln/>
        </p:spPr>
        <p:txBody>
          <a:bodyPr wrap="square" lIns="0" tIns="0" rIns="0" bIns="0" rtlCol="0" anchor="ctr"/>
          <a:lstStyle/>
          <a:p>
            <a:pPr algn="ctr" indent="0" marL="0">
              <a:lnSpc>
                <a:spcPct val="130000"/>
              </a:lnSpc>
              <a:buNone/>
            </a:pPr>
            <a:r>
              <a:rPr lang="en-US" sz="2000" i="1" dirty="0">
                <a:solidFill>
                  <a:srgbClr val="FFFFFF"/>
                </a:solidFill>
                <a:latin typeface="Cambria" pitchFamily="34" charset="0"/>
                <a:ea typeface="Cambria" pitchFamily="34" charset="-122"/>
                <a:cs typeface="Cambria" pitchFamily="34" charset="-120"/>
              </a:rPr>
              <a:t>Completing Networking Basics gave me a clear, practical foundation in how networks actually work — knowledge I can now build on for more advanced networking and IT coursework.</a:t>
            </a:r>
            <a:endParaRPr lang="en-US" sz="2000" dirty="0"/>
          </a:p>
        </p:txBody>
      </p:sp>
      <p:sp>
        <p:nvSpPr>
          <p:cNvPr id="6" name="Shape 3"/>
          <p:cNvSpPr/>
          <p:nvPr/>
        </p:nvSpPr>
        <p:spPr>
          <a:xfrm>
            <a:off x="5394960" y="4480560"/>
            <a:ext cx="1371600" cy="0"/>
          </a:xfrm>
          <a:prstGeom prst="line">
            <a:avLst/>
          </a:prstGeom>
          <a:noFill/>
          <a:ln w="25400">
            <a:solidFill>
              <a:srgbClr val="2C6E8E"/>
            </a:solidFill>
            <a:prstDash val="solid"/>
          </a:ln>
        </p:spPr>
      </p:sp>
      <p:sp>
        <p:nvSpPr>
          <p:cNvPr id="7" name="Text 4"/>
          <p:cNvSpPr txBox="1"/>
          <p:nvPr/>
        </p:nvSpPr>
        <p:spPr>
          <a:xfrm>
            <a:off x="1828800" y="4709160"/>
            <a:ext cx="850392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Calibri" pitchFamily="34" charset="0"/>
                <a:ea typeface="Calibri" pitchFamily="34" charset="-122"/>
                <a:cs typeface="Calibri" pitchFamily="34" charset="-120"/>
              </a:rPr>
              <a:t>HIMANSHU RAJ SOLANKI</a:t>
            </a:r>
            <a:endParaRPr lang="en-US" sz="1500" dirty="0"/>
          </a:p>
        </p:txBody>
      </p:sp>
      <p:sp>
        <p:nvSpPr>
          <p:cNvPr id="8" name="Text 5"/>
          <p:cNvSpPr txBox="1"/>
          <p:nvPr/>
        </p:nvSpPr>
        <p:spPr>
          <a:xfrm>
            <a:off x="1828800" y="5074920"/>
            <a:ext cx="8503920" cy="365760"/>
          </a:xfrm>
          <a:prstGeom prst="rect">
            <a:avLst/>
          </a:prstGeom>
          <a:noFill/>
          <a:ln/>
        </p:spPr>
        <p:txBody>
          <a:bodyPr wrap="square" lIns="0" tIns="0" rIns="0" bIns="0" rtlCol="0" anchor="ctr"/>
          <a:lstStyle/>
          <a:p>
            <a:pPr algn="ctr" indent="0" marL="0">
              <a:buNone/>
            </a:pPr>
            <a:r>
              <a:rPr lang="en-US" sz="1300" dirty="0">
                <a:solidFill>
                  <a:srgbClr val="D7E4EE"/>
                </a:solidFill>
                <a:latin typeface="Calibri" pitchFamily="34" charset="0"/>
                <a:ea typeface="Calibri" pitchFamily="34" charset="-122"/>
                <a:cs typeface="Calibri" pitchFamily="34" charset="-120"/>
              </a:rPr>
              <a:t>CSE, 3rd Semester  •  IILM University</a:t>
            </a:r>
            <a:endParaRPr lang="en-US" sz="1300" dirty="0"/>
          </a:p>
        </p:txBody>
      </p:sp>
      <p:sp>
        <p:nvSpPr>
          <p:cNvPr id="9" name="Text 6"/>
          <p:cNvSpPr txBox="1"/>
          <p:nvPr/>
        </p:nvSpPr>
        <p:spPr>
          <a:xfrm>
            <a:off x="1828800" y="5852160"/>
            <a:ext cx="850392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2026-08-30T17:50:37Z</dcterms:created>
  <dcterms:modified xsi:type="dcterms:W3CDTF">2026-08-30T17:50:37Z</dcterms:modified>
</cp:coreProperties>
</file>